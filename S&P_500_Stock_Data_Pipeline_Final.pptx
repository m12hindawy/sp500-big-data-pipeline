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999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tableStyles" Target="tableStyles.xml"/><Relationship Id="rId2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27D83D-C751-F383-E460-5D214F9818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D6D95B-726E-AD7F-E5F7-5256777B58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722893-4738-22F4-647D-ECC607A30A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B0E1E0-7804-3C20-17CA-846995E640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7CB7FC-E5DD-6365-4FB1-1C6F8E283F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84B9C9-86D1-02C0-6485-FDE38B87CF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C29E71-7762-67BA-F7D7-D3D385126F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25967D-E16B-AB34-7A87-C57F51C75C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F855C9-C8C2-54E8-A22D-9A1D3EC4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E776E0-B0F6-A9D4-7A29-506E62437B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6852ED-A79E-4A18-722B-1346585C1C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C44734-E251-F701-5243-EB5B63EDC7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C46409-0BBA-83C0-E104-C81CAE6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C0CE2-8A48-9D98-42BE-DB77DD7D7A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EB76-A665-E809-FF56-16517EADB5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0DE6A7-E2F3-3175-9643-8D3E22C7F3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898099-0ED1-1427-3FC6-2F05CFDBA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054F47-27E6-C47C-0452-977E5A8DD5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66EC4E-32B6-9DFE-6A4B-6A16317A64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C78A6C-2225-A0D6-FD28-552636776F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99193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5390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61547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71063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82505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4484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45280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57917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15209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5355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51864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82192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30580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34254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26346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9141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17779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50107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894567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232684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20754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432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71518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59529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672831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53214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297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5373164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089786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9729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676796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497866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84399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1103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296028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67425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7230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15091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59847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10096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64793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98846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32519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7093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1730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52339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215402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592537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1131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473895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1484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7350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94381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7540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564997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43257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489057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3093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83639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48701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25216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526526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24712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8244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723865" name="Rectangle 1"/>
          <p:cNvSpPr/>
          <p:nvPr/>
        </p:nvSpPr>
        <p:spPr bwMode="auto">
          <a:xfrm>
            <a:off x="7754112" y="0"/>
            <a:ext cx="44348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3443787" name="Rectangle 2"/>
          <p:cNvSpPr/>
          <p:nvPr/>
        </p:nvSpPr>
        <p:spPr bwMode="auto">
          <a:xfrm>
            <a:off x="0" y="6382512"/>
            <a:ext cx="7754112" cy="475488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4316863" name="Rectangle 3"/>
          <p:cNvSpPr/>
          <p:nvPr/>
        </p:nvSpPr>
        <p:spPr bwMode="auto">
          <a:xfrm>
            <a:off x="0" y="0"/>
            <a:ext cx="201168" cy="6858000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8045102" name="TextBox 5"/>
          <p:cNvSpPr txBox="1"/>
          <p:nvPr/>
        </p:nvSpPr>
        <p:spPr bwMode="auto">
          <a:xfrm>
            <a:off x="685800" y="1298448"/>
            <a:ext cx="653796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S&amp;P 500</a:t>
            </a:r>
            <a:br>
              <a:rPr sz="3100" b="1" i="0">
                <a:solidFill>
                  <a:srgbClr val="FFFFFF"/>
                </a:solidFill>
                <a:latin typeface="Aptos Display"/>
              </a:rPr>
            </a:br>
            <a:r>
              <a:rPr sz="3100" b="1" i="0">
                <a:solidFill>
                  <a:srgbClr val="FFFFFF"/>
                </a:solidFill>
                <a:latin typeface="Aptos Display"/>
              </a:rPr>
              <a:t>Stock Data Pipeline</a:t>
            </a:r>
            <a:endParaRPr/>
          </a:p>
        </p:txBody>
      </p:sp>
      <p:sp>
        <p:nvSpPr>
          <p:cNvPr id="700177313" name="TextBox 6"/>
          <p:cNvSpPr txBox="1"/>
          <p:nvPr/>
        </p:nvSpPr>
        <p:spPr bwMode="auto">
          <a:xfrm>
            <a:off x="713232" y="3246120"/>
            <a:ext cx="59893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600" b="0" i="0">
                <a:solidFill>
                  <a:srgbClr val="C8D8E8"/>
                </a:solidFill>
                <a:latin typeface="Aptos"/>
              </a:rPr>
              <a:t>A single-machine Big Data architecture for batch processing, streaming simulation, and analytics-ready data.</a:t>
            </a:r>
            <a:endParaRPr/>
          </a:p>
        </p:txBody>
      </p:sp>
      <p:sp>
        <p:nvSpPr>
          <p:cNvPr id="312427126" name="Rounded Rectangle 7"/>
          <p:cNvSpPr/>
          <p:nvPr/>
        </p:nvSpPr>
        <p:spPr bwMode="auto">
          <a:xfrm>
            <a:off x="713232" y="4434840"/>
            <a:ext cx="3474720" cy="256032"/>
          </a:xfrm>
          <a:prstGeom prst="roundRect">
            <a:avLst>
              <a:gd name="adj" fmla="val 16667"/>
            </a:avLst>
          </a:prstGeom>
          <a:solidFill>
            <a:srgbClr val="123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2183583" name="TextBox 8"/>
          <p:cNvSpPr txBox="1"/>
          <p:nvPr/>
        </p:nvSpPr>
        <p:spPr bwMode="auto">
          <a:xfrm>
            <a:off x="713232" y="4443983"/>
            <a:ext cx="347472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950" b="1" i="0">
                <a:solidFill>
                  <a:srgbClr val="D3F7F6"/>
                </a:solidFill>
                <a:latin typeface="Aptos"/>
              </a:rPr>
              <a:t>BIG DATA • DATA LAKE • STREAMING • ANALYTICS</a:t>
            </a:r>
            <a:endParaRPr/>
          </a:p>
        </p:txBody>
      </p:sp>
      <p:sp>
        <p:nvSpPr>
          <p:cNvPr id="183496156" name="TextBox 9"/>
          <p:cNvSpPr txBox="1"/>
          <p:nvPr/>
        </p:nvSpPr>
        <p:spPr bwMode="auto">
          <a:xfrm>
            <a:off x="731520" y="5559552"/>
            <a:ext cx="1600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 i="0">
                <a:solidFill>
                  <a:srgbClr val="9CB7CE"/>
                </a:solidFill>
                <a:latin typeface="Aptos"/>
              </a:rPr>
              <a:t>UNDER SUPERVISION OF</a:t>
            </a:r>
            <a:endParaRPr/>
          </a:p>
        </p:txBody>
      </p:sp>
      <p:sp>
        <p:nvSpPr>
          <p:cNvPr id="1782908701" name="TextBox 10"/>
          <p:cNvSpPr txBox="1"/>
          <p:nvPr/>
        </p:nvSpPr>
        <p:spPr bwMode="auto">
          <a:xfrm>
            <a:off x="731520" y="5779008"/>
            <a:ext cx="2560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ptos"/>
              </a:rPr>
              <a:t>Eng. Ahmed Hassan</a:t>
            </a:r>
            <a:endParaRPr/>
          </a:p>
        </p:txBody>
      </p:sp>
      <p:sp>
        <p:nvSpPr>
          <p:cNvPr id="330490632" name="Rounded Rectangle 11"/>
          <p:cNvSpPr/>
          <p:nvPr/>
        </p:nvSpPr>
        <p:spPr bwMode="auto">
          <a:xfrm>
            <a:off x="8275320" y="658368"/>
            <a:ext cx="3246120" cy="1371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6417356" name="Picture 12" descr="nti_logo_cropp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759952" y="832104"/>
            <a:ext cx="2267712" cy="1318223"/>
          </a:xfrm>
          <a:prstGeom prst="rect">
            <a:avLst/>
          </a:prstGeom>
        </p:spPr>
      </p:pic>
      <p:sp>
        <p:nvSpPr>
          <p:cNvPr id="973407592" name="TextBox 13"/>
          <p:cNvSpPr txBox="1"/>
          <p:nvPr/>
        </p:nvSpPr>
        <p:spPr bwMode="auto">
          <a:xfrm>
            <a:off x="8339327" y="2267712"/>
            <a:ext cx="301751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82448"/>
                </a:solidFill>
                <a:latin typeface="Aptos"/>
              </a:rPr>
              <a:t>National Telecommunication Institute</a:t>
            </a:r>
            <a:endParaRPr/>
          </a:p>
        </p:txBody>
      </p:sp>
      <p:sp>
        <p:nvSpPr>
          <p:cNvPr id="748222096" name="TextBox 14"/>
          <p:cNvSpPr txBox="1"/>
          <p:nvPr/>
        </p:nvSpPr>
        <p:spPr bwMode="auto">
          <a:xfrm>
            <a:off x="8668512" y="3218688"/>
            <a:ext cx="2423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900" b="1" i="0">
                <a:solidFill>
                  <a:srgbClr val="00AEBE"/>
                </a:solidFill>
                <a:latin typeface="Aptos"/>
              </a:rPr>
              <a:t>DATA FLOW / SYSTEM DESIGN</a:t>
            </a:r>
            <a:endParaRPr/>
          </a:p>
        </p:txBody>
      </p:sp>
      <p:sp>
        <p:nvSpPr>
          <p:cNvPr id="1667076660" name="Oval 15"/>
          <p:cNvSpPr/>
          <p:nvPr/>
        </p:nvSpPr>
        <p:spPr bwMode="auto">
          <a:xfrm>
            <a:off x="8522208" y="3840480"/>
            <a:ext cx="566928" cy="566928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19527" name="TextBox 16"/>
          <p:cNvSpPr txBox="1"/>
          <p:nvPr/>
        </p:nvSpPr>
        <p:spPr bwMode="auto">
          <a:xfrm>
            <a:off x="8522208" y="3849624"/>
            <a:ext cx="566928" cy="5577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  <a:endParaRPr/>
          </a:p>
        </p:txBody>
      </p:sp>
      <p:sp>
        <p:nvSpPr>
          <p:cNvPr id="2092032362" name="TextBox 17"/>
          <p:cNvSpPr txBox="1"/>
          <p:nvPr/>
        </p:nvSpPr>
        <p:spPr bwMode="auto">
          <a:xfrm>
            <a:off x="8385048" y="4498848"/>
            <a:ext cx="8412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INGEST</a:t>
            </a:r>
            <a:endParaRPr/>
          </a:p>
        </p:txBody>
      </p:sp>
      <p:cxnSp>
        <p:nvCxnSpPr>
          <p:cNvPr id="1053375752" name="Connector 18"/>
          <p:cNvCxnSpPr/>
          <p:nvPr/>
        </p:nvCxnSpPr>
        <p:spPr bwMode="auto">
          <a:xfrm>
            <a:off x="9162288" y="4123944"/>
            <a:ext cx="292608" cy="0"/>
          </a:xfrm>
          <a:prstGeom prst="line">
            <a:avLst/>
          </a:prstGeom>
          <a:ln w="1905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8721494" name="Oval 19"/>
          <p:cNvSpPr/>
          <p:nvPr/>
        </p:nvSpPr>
        <p:spPr bwMode="auto">
          <a:xfrm>
            <a:off x="9509760" y="3840480"/>
            <a:ext cx="566928" cy="566928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4439487" name="TextBox 20"/>
          <p:cNvSpPr txBox="1"/>
          <p:nvPr/>
        </p:nvSpPr>
        <p:spPr bwMode="auto">
          <a:xfrm>
            <a:off x="9509760" y="3849624"/>
            <a:ext cx="566928" cy="5577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  <a:endParaRPr/>
          </a:p>
        </p:txBody>
      </p:sp>
      <p:sp>
        <p:nvSpPr>
          <p:cNvPr id="1779838416" name="TextBox 21"/>
          <p:cNvSpPr txBox="1"/>
          <p:nvPr/>
        </p:nvSpPr>
        <p:spPr bwMode="auto">
          <a:xfrm>
            <a:off x="9372600" y="4498848"/>
            <a:ext cx="8412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PROCESS</a:t>
            </a:r>
            <a:endParaRPr/>
          </a:p>
        </p:txBody>
      </p:sp>
      <p:cxnSp>
        <p:nvCxnSpPr>
          <p:cNvPr id="691185188" name="Connector 22"/>
          <p:cNvCxnSpPr/>
          <p:nvPr/>
        </p:nvCxnSpPr>
        <p:spPr bwMode="auto">
          <a:xfrm>
            <a:off x="10149840" y="4123944"/>
            <a:ext cx="292608" cy="0"/>
          </a:xfrm>
          <a:prstGeom prst="line">
            <a:avLst/>
          </a:prstGeom>
          <a:ln w="1905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1811319" name="Oval 23"/>
          <p:cNvSpPr/>
          <p:nvPr/>
        </p:nvSpPr>
        <p:spPr bwMode="auto">
          <a:xfrm>
            <a:off x="10497312" y="3840480"/>
            <a:ext cx="566928" cy="566928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7253898" name="TextBox 24"/>
          <p:cNvSpPr txBox="1"/>
          <p:nvPr/>
        </p:nvSpPr>
        <p:spPr bwMode="auto">
          <a:xfrm>
            <a:off x="10497312" y="3849624"/>
            <a:ext cx="566928" cy="5577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  <a:endParaRPr/>
          </a:p>
        </p:txBody>
      </p:sp>
      <p:sp>
        <p:nvSpPr>
          <p:cNvPr id="1786375534" name="TextBox 25"/>
          <p:cNvSpPr txBox="1"/>
          <p:nvPr/>
        </p:nvSpPr>
        <p:spPr bwMode="auto">
          <a:xfrm>
            <a:off x="10360152" y="4498848"/>
            <a:ext cx="8412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SERVE</a:t>
            </a:r>
            <a:endParaRPr/>
          </a:p>
        </p:txBody>
      </p:sp>
      <p:sp>
        <p:nvSpPr>
          <p:cNvPr id="1333409751" name="TextBox 26"/>
          <p:cNvSpPr txBox="1"/>
          <p:nvPr/>
        </p:nvSpPr>
        <p:spPr bwMode="auto">
          <a:xfrm>
            <a:off x="8321039" y="5257800"/>
            <a:ext cx="33375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0">
                <a:solidFill>
                  <a:srgbClr val="082448"/>
                </a:solidFill>
                <a:latin typeface="Aptos"/>
              </a:rPr>
              <a:t>Historical market records → trusted data products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749724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3110295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PROJECT TEAM</a:t>
            </a:r>
            <a:endParaRPr/>
          </a:p>
        </p:txBody>
      </p:sp>
      <p:sp>
        <p:nvSpPr>
          <p:cNvPr id="1347700665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Team &amp; Supervision</a:t>
            </a:r>
            <a:endParaRPr/>
          </a:p>
        </p:txBody>
      </p:sp>
      <p:sp>
        <p:nvSpPr>
          <p:cNvPr id="2143300401" name="TextBox 4"/>
          <p:cNvSpPr txBox="1"/>
          <p:nvPr/>
        </p:nvSpPr>
        <p:spPr bwMode="auto">
          <a:xfrm>
            <a:off x="11228832" y="411480"/>
            <a:ext cx="4754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02</a:t>
            </a:r>
            <a:endParaRPr/>
          </a:p>
        </p:txBody>
      </p:sp>
      <p:cxnSp>
        <p:nvCxnSpPr>
          <p:cNvPr id="1793618455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687522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411744986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47770625" name="TextBox 8"/>
          <p:cNvSpPr txBox="1"/>
          <p:nvPr/>
        </p:nvSpPr>
        <p:spPr bwMode="auto">
          <a:xfrm>
            <a:off x="566928" y="1298448"/>
            <a:ext cx="6858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A five-person team covering the pipeline from architecture to analytics.</a:t>
            </a:r>
            <a:endParaRPr/>
          </a:p>
        </p:txBody>
      </p:sp>
      <p:sp>
        <p:nvSpPr>
          <p:cNvPr id="1973952264" name="Rounded Rectangle 9"/>
          <p:cNvSpPr/>
          <p:nvPr/>
        </p:nvSpPr>
        <p:spPr bwMode="auto">
          <a:xfrm>
            <a:off x="658368" y="1965960"/>
            <a:ext cx="274320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7945095" name="Oval 10"/>
          <p:cNvSpPr/>
          <p:nvPr/>
        </p:nvSpPr>
        <p:spPr bwMode="auto">
          <a:xfrm>
            <a:off x="841247" y="2249424"/>
            <a:ext cx="658368" cy="658368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774464" name="TextBox 11"/>
          <p:cNvSpPr txBox="1"/>
          <p:nvPr/>
        </p:nvSpPr>
        <p:spPr bwMode="auto">
          <a:xfrm>
            <a:off x="841247" y="2258568"/>
            <a:ext cx="658368" cy="6492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  <a:endParaRPr/>
          </a:p>
        </p:txBody>
      </p:sp>
      <p:sp>
        <p:nvSpPr>
          <p:cNvPr id="295396053" name="TextBox 12"/>
          <p:cNvSpPr txBox="1"/>
          <p:nvPr/>
        </p:nvSpPr>
        <p:spPr bwMode="auto">
          <a:xfrm>
            <a:off x="1645920" y="235000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7273A"/>
                </a:solidFill>
                <a:latin typeface="Aptos"/>
              </a:rPr>
              <a:t>Abdelrahman Mandor</a:t>
            </a:r>
            <a:endParaRPr/>
          </a:p>
        </p:txBody>
      </p:sp>
      <p:sp>
        <p:nvSpPr>
          <p:cNvPr id="316784095" name="Rounded Rectangle 14"/>
          <p:cNvSpPr/>
          <p:nvPr/>
        </p:nvSpPr>
        <p:spPr bwMode="auto">
          <a:xfrm>
            <a:off x="4041648" y="1965960"/>
            <a:ext cx="274320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649722" name="Oval 15"/>
          <p:cNvSpPr/>
          <p:nvPr/>
        </p:nvSpPr>
        <p:spPr bwMode="auto">
          <a:xfrm>
            <a:off x="4224528" y="2249424"/>
            <a:ext cx="658368" cy="658368"/>
          </a:xfrm>
          <a:prstGeom prst="ellipse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6117526" name="TextBox 16"/>
          <p:cNvSpPr txBox="1"/>
          <p:nvPr/>
        </p:nvSpPr>
        <p:spPr bwMode="auto">
          <a:xfrm>
            <a:off x="4224528" y="2258568"/>
            <a:ext cx="658368" cy="6492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  <a:endParaRPr/>
          </a:p>
        </p:txBody>
      </p:sp>
      <p:sp>
        <p:nvSpPr>
          <p:cNvPr id="594813502" name="TextBox 17"/>
          <p:cNvSpPr txBox="1"/>
          <p:nvPr/>
        </p:nvSpPr>
        <p:spPr bwMode="auto">
          <a:xfrm>
            <a:off x="5029200" y="235000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7273A"/>
                </a:solidFill>
                <a:latin typeface="Aptos"/>
              </a:rPr>
              <a:t>Hania Mohamed</a:t>
            </a:r>
            <a:endParaRPr/>
          </a:p>
        </p:txBody>
      </p:sp>
      <p:sp>
        <p:nvSpPr>
          <p:cNvPr id="1827222106" name="Rounded Rectangle 19"/>
          <p:cNvSpPr/>
          <p:nvPr/>
        </p:nvSpPr>
        <p:spPr bwMode="auto">
          <a:xfrm>
            <a:off x="7424927" y="1965960"/>
            <a:ext cx="274320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0086508" name="Oval 20"/>
          <p:cNvSpPr/>
          <p:nvPr/>
        </p:nvSpPr>
        <p:spPr bwMode="auto">
          <a:xfrm>
            <a:off x="7607807" y="2249424"/>
            <a:ext cx="658368" cy="658368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5672595" name="TextBox 21"/>
          <p:cNvSpPr txBox="1"/>
          <p:nvPr/>
        </p:nvSpPr>
        <p:spPr bwMode="auto">
          <a:xfrm>
            <a:off x="7607807" y="2258568"/>
            <a:ext cx="658368" cy="6492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  <a:endParaRPr/>
          </a:p>
        </p:txBody>
      </p:sp>
      <p:sp>
        <p:nvSpPr>
          <p:cNvPr id="2108976730" name="TextBox 22"/>
          <p:cNvSpPr txBox="1"/>
          <p:nvPr/>
        </p:nvSpPr>
        <p:spPr bwMode="auto">
          <a:xfrm>
            <a:off x="8412480" y="235000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7273A"/>
                </a:solidFill>
                <a:latin typeface="Aptos"/>
              </a:rPr>
              <a:t>Asmaa Adel</a:t>
            </a:r>
            <a:endParaRPr/>
          </a:p>
        </p:txBody>
      </p:sp>
      <p:sp>
        <p:nvSpPr>
          <p:cNvPr id="396719762" name="Rounded Rectangle 24"/>
          <p:cNvSpPr/>
          <p:nvPr/>
        </p:nvSpPr>
        <p:spPr bwMode="auto">
          <a:xfrm>
            <a:off x="2331720" y="3840480"/>
            <a:ext cx="274320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3698762" name="Oval 25"/>
          <p:cNvSpPr/>
          <p:nvPr/>
        </p:nvSpPr>
        <p:spPr bwMode="auto">
          <a:xfrm>
            <a:off x="2514600" y="4123944"/>
            <a:ext cx="658368" cy="658368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5528336" name="TextBox 26"/>
          <p:cNvSpPr txBox="1"/>
          <p:nvPr/>
        </p:nvSpPr>
        <p:spPr bwMode="auto">
          <a:xfrm>
            <a:off x="2514600" y="4133087"/>
            <a:ext cx="658368" cy="6492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  <a:endParaRPr/>
          </a:p>
        </p:txBody>
      </p:sp>
      <p:sp>
        <p:nvSpPr>
          <p:cNvPr id="2136930402" name="TextBox 27"/>
          <p:cNvSpPr txBox="1"/>
          <p:nvPr/>
        </p:nvSpPr>
        <p:spPr bwMode="auto">
          <a:xfrm>
            <a:off x="3319272" y="422452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7273A"/>
                </a:solidFill>
                <a:latin typeface="Aptos"/>
              </a:rPr>
              <a:t>Catherine Yousry</a:t>
            </a:r>
            <a:endParaRPr/>
          </a:p>
        </p:txBody>
      </p:sp>
      <p:sp>
        <p:nvSpPr>
          <p:cNvPr id="1099477796" name="Rounded Rectangle 29"/>
          <p:cNvSpPr/>
          <p:nvPr/>
        </p:nvSpPr>
        <p:spPr bwMode="auto">
          <a:xfrm>
            <a:off x="5715000" y="3840480"/>
            <a:ext cx="274320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1882558" name="Oval 30"/>
          <p:cNvSpPr/>
          <p:nvPr/>
        </p:nvSpPr>
        <p:spPr bwMode="auto">
          <a:xfrm>
            <a:off x="5897880" y="4123944"/>
            <a:ext cx="658368" cy="658368"/>
          </a:xfrm>
          <a:prstGeom prst="ellipse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8766116" name="TextBox 31"/>
          <p:cNvSpPr txBox="1"/>
          <p:nvPr/>
        </p:nvSpPr>
        <p:spPr bwMode="auto">
          <a:xfrm>
            <a:off x="5897880" y="4133087"/>
            <a:ext cx="658368" cy="6492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  <a:endParaRPr/>
          </a:p>
        </p:txBody>
      </p:sp>
      <p:sp>
        <p:nvSpPr>
          <p:cNvPr id="1345870079" name="TextBox 32"/>
          <p:cNvSpPr txBox="1"/>
          <p:nvPr/>
        </p:nvSpPr>
        <p:spPr bwMode="auto">
          <a:xfrm>
            <a:off x="6702552" y="422452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7273A"/>
                </a:solidFill>
                <a:latin typeface="Aptos"/>
              </a:rPr>
              <a:t>Mohamed Ashraf</a:t>
            </a:r>
            <a:endParaRPr/>
          </a:p>
        </p:txBody>
      </p:sp>
      <p:sp>
        <p:nvSpPr>
          <p:cNvPr id="1112364235" name="Rounded Rectangle 34"/>
          <p:cNvSpPr/>
          <p:nvPr/>
        </p:nvSpPr>
        <p:spPr bwMode="auto">
          <a:xfrm>
            <a:off x="3767328" y="5486400"/>
            <a:ext cx="4663440" cy="59436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7782320" name="TextBox 35"/>
          <p:cNvSpPr txBox="1"/>
          <p:nvPr/>
        </p:nvSpPr>
        <p:spPr bwMode="auto">
          <a:xfrm>
            <a:off x="3913632" y="5660136"/>
            <a:ext cx="437083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Under supervision of  •  Eng. Ahmed Hassan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109551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698984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ROADMAP</a:t>
            </a:r>
            <a:endParaRPr/>
          </a:p>
        </p:txBody>
      </p:sp>
      <p:sp>
        <p:nvSpPr>
          <p:cNvPr id="1510334345" name="TextBox 3"/>
          <p:cNvSpPr txBox="1"/>
          <p:nvPr/>
        </p:nvSpPr>
        <p:spPr bwMode="auto">
          <a:xfrm>
            <a:off x="530352" y="594360"/>
            <a:ext cx="106070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What the pipeline demonstrates</a:t>
            </a:r>
            <a:endParaRPr/>
          </a:p>
        </p:txBody>
      </p:sp>
      <p:sp>
        <p:nvSpPr>
          <p:cNvPr id="1643678782" name="TextBox 4"/>
          <p:cNvSpPr txBox="1"/>
          <p:nvPr/>
        </p:nvSpPr>
        <p:spPr bwMode="auto">
          <a:xfrm>
            <a:off x="11228832" y="411480"/>
            <a:ext cx="4754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03</a:t>
            </a:r>
            <a:endParaRPr/>
          </a:p>
        </p:txBody>
      </p:sp>
      <p:cxnSp>
        <p:nvCxnSpPr>
          <p:cNvPr id="2121453415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1059657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410617783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670975888" name="TextBox 8"/>
          <p:cNvSpPr txBox="1"/>
          <p:nvPr/>
        </p:nvSpPr>
        <p:spPr bwMode="auto">
          <a:xfrm>
            <a:off x="566928" y="1298448"/>
            <a:ext cx="6858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A practical path from historical records to trusted downstream products.</a:t>
            </a:r>
            <a:endParaRPr/>
          </a:p>
        </p:txBody>
      </p:sp>
      <p:sp>
        <p:nvSpPr>
          <p:cNvPr id="736086478" name="Rounded Rectangle 9"/>
          <p:cNvSpPr/>
          <p:nvPr/>
        </p:nvSpPr>
        <p:spPr bwMode="auto">
          <a:xfrm>
            <a:off x="713232" y="1938528"/>
            <a:ext cx="4892039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300947" name="Oval 10"/>
          <p:cNvSpPr/>
          <p:nvPr/>
        </p:nvSpPr>
        <p:spPr bwMode="auto">
          <a:xfrm>
            <a:off x="914400" y="2139696"/>
            <a:ext cx="420624" cy="420624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2211976" name="TextBox 11"/>
          <p:cNvSpPr txBox="1"/>
          <p:nvPr/>
        </p:nvSpPr>
        <p:spPr bwMode="auto">
          <a:xfrm>
            <a:off x="914400" y="2148840"/>
            <a:ext cx="420624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  <a:endParaRPr/>
          </a:p>
        </p:txBody>
      </p:sp>
      <p:sp>
        <p:nvSpPr>
          <p:cNvPr id="1110980800" name="TextBox 12"/>
          <p:cNvSpPr txBox="1"/>
          <p:nvPr/>
        </p:nvSpPr>
        <p:spPr bwMode="auto">
          <a:xfrm>
            <a:off x="1536192" y="2103120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Context</a:t>
            </a:r>
            <a:endParaRPr/>
          </a:p>
        </p:txBody>
      </p:sp>
      <p:sp>
        <p:nvSpPr>
          <p:cNvPr id="301053970" name="TextBox 13"/>
          <p:cNvSpPr txBox="1"/>
          <p:nvPr/>
        </p:nvSpPr>
        <p:spPr bwMode="auto">
          <a:xfrm>
            <a:off x="1536192" y="2386584"/>
            <a:ext cx="3767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Dataset, motivation, and architecture</a:t>
            </a:r>
            <a:endParaRPr/>
          </a:p>
        </p:txBody>
      </p:sp>
      <p:sp>
        <p:nvSpPr>
          <p:cNvPr id="184117405" name="Rounded Rectangle 14"/>
          <p:cNvSpPr/>
          <p:nvPr/>
        </p:nvSpPr>
        <p:spPr bwMode="auto">
          <a:xfrm>
            <a:off x="6245352" y="1938528"/>
            <a:ext cx="4892039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7397795" name="Oval 15"/>
          <p:cNvSpPr/>
          <p:nvPr/>
        </p:nvSpPr>
        <p:spPr bwMode="auto">
          <a:xfrm>
            <a:off x="6446520" y="2139696"/>
            <a:ext cx="420624" cy="420624"/>
          </a:xfrm>
          <a:prstGeom prst="ellipse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301047" name="TextBox 16"/>
          <p:cNvSpPr txBox="1"/>
          <p:nvPr/>
        </p:nvSpPr>
        <p:spPr bwMode="auto">
          <a:xfrm>
            <a:off x="6446520" y="2148840"/>
            <a:ext cx="420624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  <a:endParaRPr/>
          </a:p>
        </p:txBody>
      </p:sp>
      <p:sp>
        <p:nvSpPr>
          <p:cNvPr id="1562073170" name="TextBox 17"/>
          <p:cNvSpPr txBox="1"/>
          <p:nvPr/>
        </p:nvSpPr>
        <p:spPr bwMode="auto">
          <a:xfrm>
            <a:off x="7068312" y="2103120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Foundation</a:t>
            </a:r>
            <a:endParaRPr/>
          </a:p>
        </p:txBody>
      </p:sp>
      <p:sp>
        <p:nvSpPr>
          <p:cNvPr id="2052617687" name="TextBox 18"/>
          <p:cNvSpPr txBox="1"/>
          <p:nvPr/>
        </p:nvSpPr>
        <p:spPr bwMode="auto">
          <a:xfrm>
            <a:off x="7068312" y="2386584"/>
            <a:ext cx="3767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Docker, MinIO, and Kafka</a:t>
            </a:r>
            <a:endParaRPr/>
          </a:p>
        </p:txBody>
      </p:sp>
      <p:sp>
        <p:nvSpPr>
          <p:cNvPr id="695773172" name="Rounded Rectangle 19"/>
          <p:cNvSpPr/>
          <p:nvPr/>
        </p:nvSpPr>
        <p:spPr bwMode="auto">
          <a:xfrm>
            <a:off x="713232" y="3108960"/>
            <a:ext cx="4892039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488859" name="Oval 20"/>
          <p:cNvSpPr/>
          <p:nvPr/>
        </p:nvSpPr>
        <p:spPr bwMode="auto">
          <a:xfrm>
            <a:off x="914400" y="3310127"/>
            <a:ext cx="420624" cy="420624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4728992" name="TextBox 21"/>
          <p:cNvSpPr txBox="1"/>
          <p:nvPr/>
        </p:nvSpPr>
        <p:spPr bwMode="auto">
          <a:xfrm>
            <a:off x="914400" y="3319272"/>
            <a:ext cx="420624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  <a:endParaRPr/>
          </a:p>
        </p:txBody>
      </p:sp>
      <p:sp>
        <p:nvSpPr>
          <p:cNvPr id="1343748990" name="TextBox 22"/>
          <p:cNvSpPr txBox="1"/>
          <p:nvPr/>
        </p:nvSpPr>
        <p:spPr bwMode="auto">
          <a:xfrm>
            <a:off x="1536192" y="3273552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Processing</a:t>
            </a:r>
            <a:endParaRPr/>
          </a:p>
        </p:txBody>
      </p:sp>
      <p:sp>
        <p:nvSpPr>
          <p:cNvPr id="243000375" name="TextBox 23"/>
          <p:cNvSpPr txBox="1"/>
          <p:nvPr/>
        </p:nvSpPr>
        <p:spPr bwMode="auto">
          <a:xfrm>
            <a:off x="1536192" y="3557016"/>
            <a:ext cx="3767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Spark batch, validation, features, and streaming</a:t>
            </a:r>
            <a:endParaRPr/>
          </a:p>
        </p:txBody>
      </p:sp>
      <p:sp>
        <p:nvSpPr>
          <p:cNvPr id="872050821" name="Rounded Rectangle 24"/>
          <p:cNvSpPr/>
          <p:nvPr/>
        </p:nvSpPr>
        <p:spPr bwMode="auto">
          <a:xfrm>
            <a:off x="6245352" y="3108960"/>
            <a:ext cx="4892039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661052" name="Oval 25"/>
          <p:cNvSpPr/>
          <p:nvPr/>
        </p:nvSpPr>
        <p:spPr bwMode="auto">
          <a:xfrm>
            <a:off x="6446520" y="3310127"/>
            <a:ext cx="420624" cy="420624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5994815" name="TextBox 26"/>
          <p:cNvSpPr txBox="1"/>
          <p:nvPr/>
        </p:nvSpPr>
        <p:spPr bwMode="auto">
          <a:xfrm>
            <a:off x="6446520" y="3319272"/>
            <a:ext cx="420624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  <a:endParaRPr/>
          </a:p>
        </p:txBody>
      </p:sp>
      <p:sp>
        <p:nvSpPr>
          <p:cNvPr id="1106477653" name="TextBox 27"/>
          <p:cNvSpPr txBox="1"/>
          <p:nvPr/>
        </p:nvSpPr>
        <p:spPr bwMode="auto">
          <a:xfrm>
            <a:off x="7068312" y="3273552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Delivery</a:t>
            </a:r>
            <a:endParaRPr/>
          </a:p>
        </p:txBody>
      </p:sp>
      <p:sp>
        <p:nvSpPr>
          <p:cNvPr id="761327584" name="TextBox 28"/>
          <p:cNvSpPr txBox="1"/>
          <p:nvPr/>
        </p:nvSpPr>
        <p:spPr bwMode="auto">
          <a:xfrm>
            <a:off x="7068312" y="3557016"/>
            <a:ext cx="3767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Airflow, PostgreSQL, Power BI, and ML</a:t>
            </a:r>
            <a:endParaRPr/>
          </a:p>
        </p:txBody>
      </p:sp>
      <p:sp>
        <p:nvSpPr>
          <p:cNvPr id="2030851768" name="Rounded Rectangle 29"/>
          <p:cNvSpPr/>
          <p:nvPr/>
        </p:nvSpPr>
        <p:spPr bwMode="auto">
          <a:xfrm>
            <a:off x="3502152" y="4279392"/>
            <a:ext cx="4892039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8942782" name="Oval 30"/>
          <p:cNvSpPr/>
          <p:nvPr/>
        </p:nvSpPr>
        <p:spPr bwMode="auto">
          <a:xfrm>
            <a:off x="3703320" y="4480559"/>
            <a:ext cx="420624" cy="420624"/>
          </a:xfrm>
          <a:prstGeom prst="ellipse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7167115" name="TextBox 31"/>
          <p:cNvSpPr txBox="1"/>
          <p:nvPr/>
        </p:nvSpPr>
        <p:spPr bwMode="auto">
          <a:xfrm>
            <a:off x="3703320" y="4489703"/>
            <a:ext cx="420624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  <a:endParaRPr/>
          </a:p>
        </p:txBody>
      </p:sp>
      <p:sp>
        <p:nvSpPr>
          <p:cNvPr id="874462792" name="TextBox 32"/>
          <p:cNvSpPr txBox="1"/>
          <p:nvPr/>
        </p:nvSpPr>
        <p:spPr bwMode="auto">
          <a:xfrm>
            <a:off x="4325112" y="4443983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Reliability</a:t>
            </a:r>
            <a:endParaRPr/>
          </a:p>
        </p:txBody>
      </p:sp>
      <p:sp>
        <p:nvSpPr>
          <p:cNvPr id="1057165138" name="TextBox 33"/>
          <p:cNvSpPr txBox="1"/>
          <p:nvPr/>
        </p:nvSpPr>
        <p:spPr bwMode="auto">
          <a:xfrm>
            <a:off x="4325112" y="4727448"/>
            <a:ext cx="3767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Testing, recovery, and key takeaways</a:t>
            </a:r>
            <a:endParaRPr/>
          </a:p>
        </p:txBody>
      </p:sp>
      <p:sp>
        <p:nvSpPr>
          <p:cNvPr id="92940152" name="Rounded Rectangle 34"/>
          <p:cNvSpPr/>
          <p:nvPr/>
        </p:nvSpPr>
        <p:spPr bwMode="auto">
          <a:xfrm>
            <a:off x="1024128" y="5650992"/>
            <a:ext cx="10149840" cy="438912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9857952" name="TextBox 35"/>
          <p:cNvSpPr txBox="1"/>
          <p:nvPr/>
        </p:nvSpPr>
        <p:spPr bwMode="auto">
          <a:xfrm>
            <a:off x="1234440" y="5769864"/>
            <a:ext cx="9738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FFFFFF"/>
                </a:solidFill>
                <a:latin typeface="Aptos"/>
              </a:rPr>
              <a:t>Design principle: separate storage, processing, orchestration, serving, and consumption.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188775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8720530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01 / CONTEXT</a:t>
            </a:r>
            <a:endParaRPr/>
          </a:p>
        </p:txBody>
      </p:sp>
      <p:sp>
        <p:nvSpPr>
          <p:cNvPr id="623028417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Project Objective</a:t>
            </a:r>
            <a:endParaRPr/>
          </a:p>
        </p:txBody>
      </p:sp>
      <p:sp>
        <p:nvSpPr>
          <p:cNvPr id="717617313" name="TextBox 4"/>
          <p:cNvSpPr txBox="1"/>
          <p:nvPr/>
        </p:nvSpPr>
        <p:spPr bwMode="auto">
          <a:xfrm>
            <a:off x="11228832" y="411480"/>
            <a:ext cx="4754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04</a:t>
            </a:r>
            <a:endParaRPr/>
          </a:p>
        </p:txBody>
      </p:sp>
      <p:cxnSp>
        <p:nvCxnSpPr>
          <p:cNvPr id="1838176129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716061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039740615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379708797" name="TextBox 8"/>
          <p:cNvSpPr txBox="1"/>
          <p:nvPr/>
        </p:nvSpPr>
        <p:spPr bwMode="auto">
          <a:xfrm>
            <a:off x="566928" y="1298448"/>
            <a:ext cx="89611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0" i="0">
                <a:solidFill>
                  <a:srgbClr val="586A7E"/>
                </a:solidFill>
                <a:latin typeface="Aptos"/>
              </a:rPr>
              <a:t>Turn a large historical stock dataset into reliable, reusable data products.</a:t>
            </a:r>
            <a:endParaRPr/>
          </a:p>
        </p:txBody>
      </p:sp>
      <p:sp>
        <p:nvSpPr>
          <p:cNvPr id="528233024" name="Rounded Rectangle 9"/>
          <p:cNvSpPr/>
          <p:nvPr/>
        </p:nvSpPr>
        <p:spPr bwMode="auto">
          <a:xfrm>
            <a:off x="658368" y="1901952"/>
            <a:ext cx="3310127" cy="214884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828646" name="Rectangle 10"/>
          <p:cNvSpPr/>
          <p:nvPr/>
        </p:nvSpPr>
        <p:spPr bwMode="auto">
          <a:xfrm>
            <a:off x="658368" y="1901952"/>
            <a:ext cx="54864" cy="2148840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6789207" name="TextBox 11"/>
          <p:cNvSpPr txBox="1"/>
          <p:nvPr/>
        </p:nvSpPr>
        <p:spPr bwMode="auto">
          <a:xfrm>
            <a:off x="822959" y="2048256"/>
            <a:ext cx="30358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17273A"/>
                </a:solidFill>
                <a:latin typeface="Aptos"/>
              </a:rPr>
              <a:t>Source</a:t>
            </a:r>
            <a:endParaRPr/>
          </a:p>
        </p:txBody>
      </p:sp>
      <p:sp>
        <p:nvSpPr>
          <p:cNvPr id="126577113" name="TextBox 12"/>
          <p:cNvSpPr txBox="1"/>
          <p:nvPr/>
        </p:nvSpPr>
        <p:spPr bwMode="auto">
          <a:xfrm>
            <a:off x="822959" y="2432303"/>
            <a:ext cx="3017519" cy="1527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200" b="0" i="0">
                <a:solidFill>
                  <a:srgbClr val="586A7E"/>
                </a:solidFill>
                <a:latin typeface="Aptos"/>
              </a:rPr>
              <a:t>Historical S&amp;P 500 market records with daily OHLC prices, adjusted close, volume, date, and ticker.</a:t>
            </a:r>
            <a:endParaRPr/>
          </a:p>
        </p:txBody>
      </p:sp>
      <p:sp>
        <p:nvSpPr>
          <p:cNvPr id="383217190" name="Rounded Rectangle 13"/>
          <p:cNvSpPr/>
          <p:nvPr/>
        </p:nvSpPr>
        <p:spPr bwMode="auto">
          <a:xfrm>
            <a:off x="4443984" y="1901952"/>
            <a:ext cx="3310127" cy="2148840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3608858" name="Rectangle 14"/>
          <p:cNvSpPr/>
          <p:nvPr/>
        </p:nvSpPr>
        <p:spPr bwMode="auto">
          <a:xfrm>
            <a:off x="4443984" y="1901952"/>
            <a:ext cx="54864" cy="2148840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2492199" name="TextBox 15"/>
          <p:cNvSpPr txBox="1"/>
          <p:nvPr/>
        </p:nvSpPr>
        <p:spPr bwMode="auto">
          <a:xfrm>
            <a:off x="4608576" y="2048256"/>
            <a:ext cx="30358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17273A"/>
                </a:solidFill>
                <a:latin typeface="Aptos"/>
              </a:rPr>
              <a:t>Pipeline</a:t>
            </a:r>
            <a:endParaRPr/>
          </a:p>
        </p:txBody>
      </p:sp>
      <p:sp>
        <p:nvSpPr>
          <p:cNvPr id="1808695662" name="TextBox 16"/>
          <p:cNvSpPr txBox="1"/>
          <p:nvPr/>
        </p:nvSpPr>
        <p:spPr bwMode="auto">
          <a:xfrm>
            <a:off x="4608576" y="2432303"/>
            <a:ext cx="3017519" cy="1527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200" b="0" i="0">
                <a:solidFill>
                  <a:srgbClr val="586A7E"/>
                </a:solidFill>
                <a:latin typeface="Aptos"/>
              </a:rPr>
              <a:t>A complete flow for storage, validation, transformation, streaming, orchestration, and serving.</a:t>
            </a:r>
            <a:endParaRPr/>
          </a:p>
        </p:txBody>
      </p:sp>
      <p:sp>
        <p:nvSpPr>
          <p:cNvPr id="1585831048" name="Rounded Rectangle 17"/>
          <p:cNvSpPr/>
          <p:nvPr/>
        </p:nvSpPr>
        <p:spPr bwMode="auto">
          <a:xfrm>
            <a:off x="8229600" y="1901952"/>
            <a:ext cx="3310127" cy="2148840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0637942" name="Rectangle 18"/>
          <p:cNvSpPr/>
          <p:nvPr/>
        </p:nvSpPr>
        <p:spPr bwMode="auto">
          <a:xfrm>
            <a:off x="8229600" y="1901952"/>
            <a:ext cx="54864" cy="2148840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055708" name="TextBox 19"/>
          <p:cNvSpPr txBox="1"/>
          <p:nvPr/>
        </p:nvSpPr>
        <p:spPr bwMode="auto">
          <a:xfrm>
            <a:off x="8394192" y="2048256"/>
            <a:ext cx="30358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17273A"/>
                </a:solidFill>
                <a:latin typeface="Aptos"/>
              </a:rPr>
              <a:t>Outcome</a:t>
            </a:r>
            <a:endParaRPr/>
          </a:p>
        </p:txBody>
      </p:sp>
      <p:sp>
        <p:nvSpPr>
          <p:cNvPr id="827909924" name="TextBox 20"/>
          <p:cNvSpPr txBox="1"/>
          <p:nvPr/>
        </p:nvSpPr>
        <p:spPr bwMode="auto">
          <a:xfrm>
            <a:off x="8394192" y="2432303"/>
            <a:ext cx="3017519" cy="1527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200" b="0" i="0">
                <a:solidFill>
                  <a:srgbClr val="586A7E"/>
                </a:solidFill>
                <a:latin typeface="Aptos"/>
              </a:rPr>
              <a:t>Analytics-ready Gold data for SQL dashboards and downstream machine learning.</a:t>
            </a:r>
            <a:endParaRPr/>
          </a:p>
        </p:txBody>
      </p:sp>
      <p:cxnSp>
        <p:nvCxnSpPr>
          <p:cNvPr id="118089475" name="Connector 21"/>
          <p:cNvCxnSpPr/>
          <p:nvPr/>
        </p:nvCxnSpPr>
        <p:spPr bwMode="auto">
          <a:xfrm>
            <a:off x="4059936" y="2962656"/>
            <a:ext cx="292608" cy="0"/>
          </a:xfrm>
          <a:prstGeom prst="line">
            <a:avLst/>
          </a:prstGeom>
          <a:ln w="25400">
            <a:solidFill>
              <a:srgbClr val="198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8818077" name="Connector 22"/>
          <p:cNvCxnSpPr/>
          <p:nvPr/>
        </p:nvCxnSpPr>
        <p:spPr bwMode="auto">
          <a:xfrm>
            <a:off x="7845552" y="2962656"/>
            <a:ext cx="292608" cy="0"/>
          </a:xfrm>
          <a:prstGeom prst="line">
            <a:avLst/>
          </a:prstGeom>
          <a:ln w="25400">
            <a:solidFill>
              <a:srgbClr val="72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287494" name="Rounded Rectangle 23"/>
          <p:cNvSpPr/>
          <p:nvPr/>
        </p:nvSpPr>
        <p:spPr bwMode="auto">
          <a:xfrm>
            <a:off x="658368" y="4645152"/>
            <a:ext cx="10881360" cy="1078992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7475138" name="TextBox 24"/>
          <p:cNvSpPr txBox="1"/>
          <p:nvPr/>
        </p:nvSpPr>
        <p:spPr bwMode="auto">
          <a:xfrm>
            <a:off x="914400" y="4882896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00AEBE"/>
                </a:solidFill>
                <a:latin typeface="Aptos"/>
              </a:rPr>
              <a:t>SCOPE NOTE</a:t>
            </a:r>
            <a:endParaRPr/>
          </a:p>
        </p:txBody>
      </p:sp>
      <p:sp>
        <p:nvSpPr>
          <p:cNvPr id="1940749838" name="TextBox 25"/>
          <p:cNvSpPr txBox="1"/>
          <p:nvPr/>
        </p:nvSpPr>
        <p:spPr bwMode="auto">
          <a:xfrm>
            <a:off x="1965960" y="4818888"/>
            <a:ext cx="9098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2000"/>
              </a:lnSpc>
              <a:defRPr/>
            </a:pPr>
            <a:r>
              <a:rPr sz="1500" b="1" i="0">
                <a:solidFill>
                  <a:srgbClr val="FFFFFF"/>
                </a:solidFill>
                <a:latin typeface="Aptos"/>
              </a:rPr>
              <a:t>The streaming path replays historical records over synthetic event time. It demonstrates streaming architecture, not a live market feed.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45384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5869968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01 / CONTEXT</a:t>
            </a:r>
            <a:endParaRPr/>
          </a:p>
        </p:txBody>
      </p:sp>
      <p:sp>
        <p:nvSpPr>
          <p:cNvPr id="1300422896" name="TextBox 3"/>
          <p:cNvSpPr txBox="1"/>
          <p:nvPr/>
        </p:nvSpPr>
        <p:spPr bwMode="auto">
          <a:xfrm>
            <a:off x="530352" y="594360"/>
            <a:ext cx="1060847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Dataset &amp; Data contract</a:t>
            </a:r>
            <a:endParaRPr/>
          </a:p>
        </p:txBody>
      </p:sp>
      <p:sp>
        <p:nvSpPr>
          <p:cNvPr id="1123831738" name="TextBox 4"/>
          <p:cNvSpPr txBox="1"/>
          <p:nvPr/>
        </p:nvSpPr>
        <p:spPr bwMode="auto">
          <a:xfrm>
            <a:off x="11228832" y="411480"/>
            <a:ext cx="4754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05</a:t>
            </a:r>
            <a:endParaRPr/>
          </a:p>
        </p:txBody>
      </p:sp>
      <p:cxnSp>
        <p:nvCxnSpPr>
          <p:cNvPr id="731608461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812757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490467398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272309676" name="TextBox 8"/>
          <p:cNvSpPr txBox="1"/>
          <p:nvPr/>
        </p:nvSpPr>
        <p:spPr bwMode="auto">
          <a:xfrm>
            <a:off x="566928" y="1298448"/>
            <a:ext cx="7315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Historical daily OHLCV market observations covering 25 years of S&amp;P 500 trading.</a:t>
            </a:r>
            <a:endParaRPr/>
          </a:p>
        </p:txBody>
      </p:sp>
      <p:sp>
        <p:nvSpPr>
          <p:cNvPr id="916275038" name="Rounded Rectangle 9"/>
          <p:cNvSpPr/>
          <p:nvPr/>
        </p:nvSpPr>
        <p:spPr bwMode="auto">
          <a:xfrm>
            <a:off x="658368" y="1865376"/>
            <a:ext cx="6784848" cy="33467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9387234" name="TextBox 10"/>
          <p:cNvSpPr txBox="1"/>
          <p:nvPr/>
        </p:nvSpPr>
        <p:spPr bwMode="auto">
          <a:xfrm>
            <a:off x="932688" y="2121408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Representative record</a:t>
            </a:r>
            <a:endParaRPr/>
          </a:p>
        </p:txBody>
      </p:sp>
      <p:sp>
        <p:nvSpPr>
          <p:cNvPr id="428567212" name="Rounded Rectangle 11"/>
          <p:cNvSpPr/>
          <p:nvPr/>
        </p:nvSpPr>
        <p:spPr bwMode="auto">
          <a:xfrm>
            <a:off x="932688" y="2724911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2055055" name="TextBox 12"/>
          <p:cNvSpPr txBox="1"/>
          <p:nvPr/>
        </p:nvSpPr>
        <p:spPr bwMode="auto">
          <a:xfrm>
            <a:off x="1024128" y="2825496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date</a:t>
            </a:r>
            <a:endParaRPr/>
          </a:p>
        </p:txBody>
      </p:sp>
      <p:sp>
        <p:nvSpPr>
          <p:cNvPr id="814044467" name="TextBox 13"/>
          <p:cNvSpPr txBox="1"/>
          <p:nvPr/>
        </p:nvSpPr>
        <p:spPr bwMode="auto">
          <a:xfrm>
            <a:off x="1024128" y="3063240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2024-01-08</a:t>
            </a:r>
            <a:endParaRPr/>
          </a:p>
        </p:txBody>
      </p:sp>
      <p:sp>
        <p:nvSpPr>
          <p:cNvPr id="27131178" name="Rounded Rectangle 14"/>
          <p:cNvSpPr/>
          <p:nvPr/>
        </p:nvSpPr>
        <p:spPr bwMode="auto">
          <a:xfrm>
            <a:off x="2468880" y="2724911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4793468" name="TextBox 15"/>
          <p:cNvSpPr txBox="1"/>
          <p:nvPr/>
        </p:nvSpPr>
        <p:spPr bwMode="auto">
          <a:xfrm>
            <a:off x="2560320" y="2825496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symbol</a:t>
            </a:r>
            <a:endParaRPr/>
          </a:p>
        </p:txBody>
      </p:sp>
      <p:sp>
        <p:nvSpPr>
          <p:cNvPr id="1069898480" name="TextBox 16"/>
          <p:cNvSpPr txBox="1"/>
          <p:nvPr/>
        </p:nvSpPr>
        <p:spPr bwMode="auto">
          <a:xfrm>
            <a:off x="2560320" y="3063240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AAPL</a:t>
            </a:r>
            <a:endParaRPr/>
          </a:p>
        </p:txBody>
      </p:sp>
      <p:sp>
        <p:nvSpPr>
          <p:cNvPr id="893103112" name="Rounded Rectangle 17"/>
          <p:cNvSpPr/>
          <p:nvPr/>
        </p:nvSpPr>
        <p:spPr bwMode="auto">
          <a:xfrm>
            <a:off x="4005072" y="2724911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5214803" name="TextBox 18"/>
          <p:cNvSpPr txBox="1"/>
          <p:nvPr/>
        </p:nvSpPr>
        <p:spPr bwMode="auto">
          <a:xfrm>
            <a:off x="4096511" y="2825496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open</a:t>
            </a:r>
            <a:endParaRPr/>
          </a:p>
        </p:txBody>
      </p:sp>
      <p:sp>
        <p:nvSpPr>
          <p:cNvPr id="805687471" name="TextBox 19"/>
          <p:cNvSpPr txBox="1"/>
          <p:nvPr/>
        </p:nvSpPr>
        <p:spPr bwMode="auto">
          <a:xfrm>
            <a:off x="4096511" y="3063240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185.59</a:t>
            </a:r>
            <a:endParaRPr/>
          </a:p>
        </p:txBody>
      </p:sp>
      <p:sp>
        <p:nvSpPr>
          <p:cNvPr id="488519689" name="Rounded Rectangle 20"/>
          <p:cNvSpPr/>
          <p:nvPr/>
        </p:nvSpPr>
        <p:spPr bwMode="auto">
          <a:xfrm>
            <a:off x="5541264" y="2724911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724977" name="TextBox 21"/>
          <p:cNvSpPr txBox="1"/>
          <p:nvPr/>
        </p:nvSpPr>
        <p:spPr bwMode="auto">
          <a:xfrm>
            <a:off x="5632704" y="2825496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high</a:t>
            </a:r>
            <a:endParaRPr/>
          </a:p>
        </p:txBody>
      </p:sp>
      <p:sp>
        <p:nvSpPr>
          <p:cNvPr id="311139006" name="TextBox 22"/>
          <p:cNvSpPr txBox="1"/>
          <p:nvPr/>
        </p:nvSpPr>
        <p:spPr bwMode="auto">
          <a:xfrm>
            <a:off x="5632704" y="3063240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189.05</a:t>
            </a:r>
            <a:endParaRPr/>
          </a:p>
        </p:txBody>
      </p:sp>
      <p:sp>
        <p:nvSpPr>
          <p:cNvPr id="1314069707" name="Rounded Rectangle 23"/>
          <p:cNvSpPr/>
          <p:nvPr/>
        </p:nvSpPr>
        <p:spPr bwMode="auto">
          <a:xfrm>
            <a:off x="932688" y="3666744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972940" name="TextBox 24"/>
          <p:cNvSpPr txBox="1"/>
          <p:nvPr/>
        </p:nvSpPr>
        <p:spPr bwMode="auto">
          <a:xfrm>
            <a:off x="1024128" y="3767328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low</a:t>
            </a:r>
            <a:endParaRPr/>
          </a:p>
        </p:txBody>
      </p:sp>
      <p:sp>
        <p:nvSpPr>
          <p:cNvPr id="1746928601" name="TextBox 25"/>
          <p:cNvSpPr txBox="1"/>
          <p:nvPr/>
        </p:nvSpPr>
        <p:spPr bwMode="auto">
          <a:xfrm>
            <a:off x="1024128" y="4005072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185.52</a:t>
            </a:r>
            <a:endParaRPr/>
          </a:p>
        </p:txBody>
      </p:sp>
      <p:sp>
        <p:nvSpPr>
          <p:cNvPr id="848717512" name="Rounded Rectangle 26"/>
          <p:cNvSpPr/>
          <p:nvPr/>
        </p:nvSpPr>
        <p:spPr bwMode="auto">
          <a:xfrm>
            <a:off x="2468880" y="3666744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898510" name="TextBox 27"/>
          <p:cNvSpPr txBox="1"/>
          <p:nvPr/>
        </p:nvSpPr>
        <p:spPr bwMode="auto">
          <a:xfrm>
            <a:off x="2560320" y="3767328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close</a:t>
            </a:r>
            <a:endParaRPr/>
          </a:p>
        </p:txBody>
      </p:sp>
      <p:sp>
        <p:nvSpPr>
          <p:cNvPr id="1427815000" name="TextBox 28"/>
          <p:cNvSpPr txBox="1"/>
          <p:nvPr/>
        </p:nvSpPr>
        <p:spPr bwMode="auto">
          <a:xfrm>
            <a:off x="2560320" y="4005072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187.68</a:t>
            </a:r>
            <a:endParaRPr/>
          </a:p>
        </p:txBody>
      </p:sp>
      <p:sp>
        <p:nvSpPr>
          <p:cNvPr id="1214824896" name="Rounded Rectangle 29"/>
          <p:cNvSpPr/>
          <p:nvPr/>
        </p:nvSpPr>
        <p:spPr bwMode="auto">
          <a:xfrm>
            <a:off x="4005072" y="3666744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1801882" name="TextBox 30"/>
          <p:cNvSpPr txBox="1"/>
          <p:nvPr/>
        </p:nvSpPr>
        <p:spPr bwMode="auto">
          <a:xfrm>
            <a:off x="4096511" y="3767328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adj_close</a:t>
            </a:r>
            <a:endParaRPr/>
          </a:p>
        </p:txBody>
      </p:sp>
      <p:sp>
        <p:nvSpPr>
          <p:cNvPr id="1638490681" name="TextBox 31"/>
          <p:cNvSpPr txBox="1"/>
          <p:nvPr/>
        </p:nvSpPr>
        <p:spPr bwMode="auto">
          <a:xfrm>
            <a:off x="4096511" y="4005072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187.68</a:t>
            </a:r>
            <a:endParaRPr/>
          </a:p>
        </p:txBody>
      </p:sp>
      <p:sp>
        <p:nvSpPr>
          <p:cNvPr id="1229703150" name="Rounded Rectangle 32"/>
          <p:cNvSpPr/>
          <p:nvPr/>
        </p:nvSpPr>
        <p:spPr bwMode="auto">
          <a:xfrm>
            <a:off x="5541264" y="3666744"/>
            <a:ext cx="1298448" cy="676656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7086094" name="TextBox 33"/>
          <p:cNvSpPr txBox="1"/>
          <p:nvPr/>
        </p:nvSpPr>
        <p:spPr bwMode="auto">
          <a:xfrm>
            <a:off x="5632704" y="3767328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850" b="1" i="0">
                <a:solidFill>
                  <a:srgbClr val="586A7E"/>
                </a:solidFill>
                <a:latin typeface="Aptos"/>
              </a:rPr>
              <a:t>volume</a:t>
            </a:r>
            <a:endParaRPr/>
          </a:p>
        </p:txBody>
      </p:sp>
      <p:sp>
        <p:nvSpPr>
          <p:cNvPr id="1983727437" name="TextBox 34"/>
          <p:cNvSpPr txBox="1"/>
          <p:nvPr/>
        </p:nvSpPr>
        <p:spPr bwMode="auto">
          <a:xfrm>
            <a:off x="5632704" y="4005072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82448"/>
                </a:solidFill>
                <a:latin typeface="Aptos"/>
              </a:rPr>
              <a:t>46.7M</a:t>
            </a:r>
            <a:endParaRPr/>
          </a:p>
        </p:txBody>
      </p:sp>
      <p:sp>
        <p:nvSpPr>
          <p:cNvPr id="1229430920" name="Rounded Rectangle 35"/>
          <p:cNvSpPr/>
          <p:nvPr/>
        </p:nvSpPr>
        <p:spPr bwMode="auto">
          <a:xfrm>
            <a:off x="7827264" y="1865376"/>
            <a:ext cx="370332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3964760" name="Rectangle 36"/>
          <p:cNvSpPr/>
          <p:nvPr/>
        </p:nvSpPr>
        <p:spPr bwMode="auto">
          <a:xfrm>
            <a:off x="7827264" y="1865376"/>
            <a:ext cx="54864" cy="1417320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8659604" name="TextBox 37"/>
          <p:cNvSpPr txBox="1"/>
          <p:nvPr/>
        </p:nvSpPr>
        <p:spPr bwMode="auto">
          <a:xfrm>
            <a:off x="7991856" y="2011680"/>
            <a:ext cx="34290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Scale</a:t>
            </a:r>
            <a:endParaRPr/>
          </a:p>
        </p:txBody>
      </p:sp>
      <p:sp>
        <p:nvSpPr>
          <p:cNvPr id="248391458" name="TextBox 38"/>
          <p:cNvSpPr txBox="1"/>
          <p:nvPr/>
        </p:nvSpPr>
        <p:spPr bwMode="auto">
          <a:xfrm>
            <a:off x="7991856" y="2395728"/>
            <a:ext cx="341071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t>51,590,914 real stock records (3.16 GB CSV) across 500+ companies over 25 full years (2000–2025).</a:t>
            </a:r>
            <a:endParaRPr/>
          </a:p>
        </p:txBody>
      </p:sp>
      <p:sp>
        <p:nvSpPr>
          <p:cNvPr id="1177821179" name="Rounded Rectangle 39"/>
          <p:cNvSpPr/>
          <p:nvPr/>
        </p:nvSpPr>
        <p:spPr bwMode="auto">
          <a:xfrm>
            <a:off x="7827264" y="3493008"/>
            <a:ext cx="3703320" cy="17190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4885822" name="Rectangle 40"/>
          <p:cNvSpPr/>
          <p:nvPr/>
        </p:nvSpPr>
        <p:spPr bwMode="auto">
          <a:xfrm>
            <a:off x="7827264" y="3493008"/>
            <a:ext cx="54864" cy="1719072"/>
          </a:xfrm>
          <a:prstGeom prst="rect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0049552" name="TextBox 41"/>
          <p:cNvSpPr txBox="1"/>
          <p:nvPr/>
        </p:nvSpPr>
        <p:spPr bwMode="auto">
          <a:xfrm>
            <a:off x="7991856" y="3639312"/>
            <a:ext cx="34290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Required data contract</a:t>
            </a:r>
            <a:endParaRPr/>
          </a:p>
        </p:txBody>
      </p:sp>
      <p:sp>
        <p:nvSpPr>
          <p:cNvPr id="1703828955" name="TextBox 42"/>
          <p:cNvSpPr txBox="1"/>
          <p:nvPr/>
        </p:nvSpPr>
        <p:spPr bwMode="auto">
          <a:xfrm>
            <a:off x="7991856" y="4023359"/>
            <a:ext cx="3410712" cy="10972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50" b="0" i="0">
                <a:solidFill>
                  <a:srgbClr val="586A7E"/>
                </a:solidFill>
                <a:latin typeface="Aptos"/>
              </a:rPr>
              <a:t>Stable schema</a:t>
            </a:r>
            <a:br>
              <a:rPr sz="1150" b="0" i="0">
                <a:solidFill>
                  <a:srgbClr val="586A7E"/>
                </a:solidFill>
                <a:latin typeface="Aptos"/>
              </a:rPr>
            </a:br>
            <a:r>
              <a:rPr sz="1150" b="0" i="0">
                <a:solidFill>
                  <a:srgbClr val="586A7E"/>
                </a:solidFill>
                <a:latin typeface="Aptos"/>
              </a:rPr>
              <a:t>Non-null ticker and date</a:t>
            </a:r>
            <a:br>
              <a:rPr sz="1150" b="0" i="0">
                <a:solidFill>
                  <a:srgbClr val="586A7E"/>
                </a:solidFill>
                <a:latin typeface="Aptos"/>
              </a:rPr>
            </a:br>
            <a:r>
              <a:rPr sz="1150" b="0" i="0">
                <a:solidFill>
                  <a:srgbClr val="586A7E"/>
                </a:solidFill>
                <a:latin typeface="Aptos"/>
              </a:rPr>
              <a:t>Positive prices and volume</a:t>
            </a:r>
            <a:br>
              <a:rPr sz="1150" b="0" i="0">
                <a:solidFill>
                  <a:srgbClr val="586A7E"/>
                </a:solidFill>
                <a:latin typeface="Aptos"/>
              </a:rPr>
            </a:br>
            <a:r>
              <a:rPr sz="1150" b="0" i="0">
                <a:solidFill>
                  <a:srgbClr val="586A7E"/>
                </a:solidFill>
                <a:latin typeface="Aptos"/>
              </a:rPr>
              <a:t>Consistent OHLC relationships</a:t>
            </a:r>
            <a:endParaRPr/>
          </a:p>
        </p:txBody>
      </p:sp>
      <p:sp>
        <p:nvSpPr>
          <p:cNvPr id="114024281" name="Rounded Rectangle 43"/>
          <p:cNvSpPr/>
          <p:nvPr/>
        </p:nvSpPr>
        <p:spPr bwMode="auto">
          <a:xfrm>
            <a:off x="3547872" y="5687568"/>
            <a:ext cx="5120640" cy="256032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9449587" name="TextBox 44"/>
          <p:cNvSpPr txBox="1"/>
          <p:nvPr/>
        </p:nvSpPr>
        <p:spPr bwMode="auto">
          <a:xfrm>
            <a:off x="3547872" y="5696712"/>
            <a:ext cx="51206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51.59M RAW RECORDS → 3.16 GB BRONZE S3 STORAGE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733781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5806456" name="TextBox 2"/>
          <p:cNvSpPr txBox="1"/>
          <p:nvPr/>
        </p:nvSpPr>
        <p:spPr bwMode="auto">
          <a:xfrm>
            <a:off x="530352" y="310895"/>
            <a:ext cx="2195280" cy="2182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950" b="1" i="0" u="none" strike="noStrike" cap="none" spc="0">
                <a:solidFill>
                  <a:srgbClr val="00AEBE"/>
                </a:solidFill>
                <a:latin typeface="Aptos"/>
                <a:ea typeface="Aptos"/>
                <a:cs typeface="Aptos"/>
              </a:rPr>
              <a:t>01 / CONTEXT</a:t>
            </a:r>
            <a:endParaRPr/>
          </a:p>
        </p:txBody>
      </p:sp>
      <p:sp>
        <p:nvSpPr>
          <p:cNvPr id="1721400464" name="TextBox 3"/>
          <p:cNvSpPr txBox="1"/>
          <p:nvPr/>
        </p:nvSpPr>
        <p:spPr bwMode="auto">
          <a:xfrm>
            <a:off x="530352" y="594360"/>
            <a:ext cx="106070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One system, clear responsibilities</a:t>
            </a:r>
            <a:endParaRPr/>
          </a:p>
        </p:txBody>
      </p:sp>
      <p:sp>
        <p:nvSpPr>
          <p:cNvPr id="240845144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06</a:t>
            </a:r>
            <a:endParaRPr/>
          </a:p>
        </p:txBody>
      </p:sp>
      <p:cxnSp>
        <p:nvCxnSpPr>
          <p:cNvPr id="532969041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187367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516116952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528150306" name="TextBox 8"/>
          <p:cNvSpPr txBox="1"/>
          <p:nvPr/>
        </p:nvSpPr>
        <p:spPr bwMode="auto">
          <a:xfrm>
            <a:off x="566928" y="1298448"/>
            <a:ext cx="7680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Each technology has one primary job in the architecture.</a:t>
            </a:r>
            <a:endParaRPr/>
          </a:p>
        </p:txBody>
      </p:sp>
      <p:sp>
        <p:nvSpPr>
          <p:cNvPr id="1986052550" name="Rounded Rectangle 9"/>
          <p:cNvSpPr/>
          <p:nvPr/>
        </p:nvSpPr>
        <p:spPr bwMode="auto">
          <a:xfrm>
            <a:off x="841248" y="1901952"/>
            <a:ext cx="3218688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2422854" name="Rectangle 10"/>
          <p:cNvSpPr/>
          <p:nvPr/>
        </p:nvSpPr>
        <p:spPr bwMode="auto">
          <a:xfrm>
            <a:off x="841248" y="1901952"/>
            <a:ext cx="73152" cy="960120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1168124" name="TextBox 11"/>
          <p:cNvSpPr txBox="1"/>
          <p:nvPr/>
        </p:nvSpPr>
        <p:spPr bwMode="auto">
          <a:xfrm>
            <a:off x="1069848" y="2093976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MinIO</a:t>
            </a:r>
            <a:endParaRPr/>
          </a:p>
        </p:txBody>
      </p:sp>
      <p:sp>
        <p:nvSpPr>
          <p:cNvPr id="1099497712" name="TextBox 12"/>
          <p:cNvSpPr txBox="1"/>
          <p:nvPr/>
        </p:nvSpPr>
        <p:spPr bwMode="auto">
          <a:xfrm>
            <a:off x="1069848" y="2414016"/>
            <a:ext cx="2651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stores the lake layers</a:t>
            </a:r>
            <a:endParaRPr/>
          </a:p>
        </p:txBody>
      </p:sp>
      <p:sp>
        <p:nvSpPr>
          <p:cNvPr id="661568483" name="Rounded Rectangle 13"/>
          <p:cNvSpPr/>
          <p:nvPr/>
        </p:nvSpPr>
        <p:spPr bwMode="auto">
          <a:xfrm>
            <a:off x="4544568" y="1901952"/>
            <a:ext cx="3218688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318361" name="Rectangle 14"/>
          <p:cNvSpPr/>
          <p:nvPr/>
        </p:nvSpPr>
        <p:spPr bwMode="auto">
          <a:xfrm>
            <a:off x="4544568" y="1901952"/>
            <a:ext cx="73152" cy="960120"/>
          </a:xfrm>
          <a:prstGeom prst="rect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3681674" name="TextBox 15"/>
          <p:cNvSpPr txBox="1"/>
          <p:nvPr/>
        </p:nvSpPr>
        <p:spPr bwMode="auto">
          <a:xfrm>
            <a:off x="4773168" y="2093976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Kafka</a:t>
            </a:r>
            <a:endParaRPr/>
          </a:p>
        </p:txBody>
      </p:sp>
      <p:sp>
        <p:nvSpPr>
          <p:cNvPr id="2006652573" name="TextBox 16"/>
          <p:cNvSpPr txBox="1"/>
          <p:nvPr/>
        </p:nvSpPr>
        <p:spPr bwMode="auto">
          <a:xfrm>
            <a:off x="4773168" y="2414016"/>
            <a:ext cx="2651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moves event streams</a:t>
            </a:r>
            <a:endParaRPr/>
          </a:p>
        </p:txBody>
      </p:sp>
      <p:sp>
        <p:nvSpPr>
          <p:cNvPr id="310784086" name="Rounded Rectangle 17"/>
          <p:cNvSpPr/>
          <p:nvPr/>
        </p:nvSpPr>
        <p:spPr bwMode="auto">
          <a:xfrm>
            <a:off x="8247888" y="1901952"/>
            <a:ext cx="3218688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9507895" name="Rectangle 18"/>
          <p:cNvSpPr/>
          <p:nvPr/>
        </p:nvSpPr>
        <p:spPr bwMode="auto">
          <a:xfrm>
            <a:off x="8247888" y="1901952"/>
            <a:ext cx="73152" cy="960120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0772378" name="TextBox 19"/>
          <p:cNvSpPr txBox="1"/>
          <p:nvPr/>
        </p:nvSpPr>
        <p:spPr bwMode="auto">
          <a:xfrm>
            <a:off x="8476488" y="2093976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Spark</a:t>
            </a:r>
            <a:endParaRPr/>
          </a:p>
        </p:txBody>
      </p:sp>
      <p:sp>
        <p:nvSpPr>
          <p:cNvPr id="126797171" name="TextBox 20"/>
          <p:cNvSpPr txBox="1"/>
          <p:nvPr/>
        </p:nvSpPr>
        <p:spPr bwMode="auto">
          <a:xfrm>
            <a:off x="8476488" y="2414016"/>
            <a:ext cx="2651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validates and transforms</a:t>
            </a:r>
            <a:endParaRPr/>
          </a:p>
        </p:txBody>
      </p:sp>
      <p:sp>
        <p:nvSpPr>
          <p:cNvPr id="1957099235" name="Rounded Rectangle 21"/>
          <p:cNvSpPr/>
          <p:nvPr/>
        </p:nvSpPr>
        <p:spPr bwMode="auto">
          <a:xfrm>
            <a:off x="841248" y="3227832"/>
            <a:ext cx="3218688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7924094" name="Rectangle 22"/>
          <p:cNvSpPr/>
          <p:nvPr/>
        </p:nvSpPr>
        <p:spPr bwMode="auto">
          <a:xfrm>
            <a:off x="841248" y="3227832"/>
            <a:ext cx="73152" cy="960120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4197324" name="TextBox 23"/>
          <p:cNvSpPr txBox="1"/>
          <p:nvPr/>
        </p:nvSpPr>
        <p:spPr bwMode="auto">
          <a:xfrm>
            <a:off x="1069848" y="3419856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Airflow</a:t>
            </a:r>
            <a:endParaRPr/>
          </a:p>
        </p:txBody>
      </p:sp>
      <p:sp>
        <p:nvSpPr>
          <p:cNvPr id="289906097" name="TextBox 24"/>
          <p:cNvSpPr txBox="1"/>
          <p:nvPr/>
        </p:nvSpPr>
        <p:spPr bwMode="auto">
          <a:xfrm>
            <a:off x="1069848" y="3739896"/>
            <a:ext cx="2651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orchestrates tasks</a:t>
            </a:r>
            <a:endParaRPr/>
          </a:p>
        </p:txBody>
      </p:sp>
      <p:sp>
        <p:nvSpPr>
          <p:cNvPr id="1990292190" name="Rounded Rectangle 25"/>
          <p:cNvSpPr/>
          <p:nvPr/>
        </p:nvSpPr>
        <p:spPr bwMode="auto">
          <a:xfrm>
            <a:off x="4544568" y="3227832"/>
            <a:ext cx="3218688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3048327" name="Rectangle 26"/>
          <p:cNvSpPr/>
          <p:nvPr/>
        </p:nvSpPr>
        <p:spPr bwMode="auto">
          <a:xfrm>
            <a:off x="4544568" y="3227832"/>
            <a:ext cx="73152" cy="960120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611525" name="TextBox 27"/>
          <p:cNvSpPr txBox="1"/>
          <p:nvPr/>
        </p:nvSpPr>
        <p:spPr bwMode="auto">
          <a:xfrm>
            <a:off x="4773168" y="3419856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PostgreSQL</a:t>
            </a:r>
            <a:endParaRPr/>
          </a:p>
        </p:txBody>
      </p:sp>
      <p:sp>
        <p:nvSpPr>
          <p:cNvPr id="1826656817" name="TextBox 28"/>
          <p:cNvSpPr txBox="1"/>
          <p:nvPr/>
        </p:nvSpPr>
        <p:spPr bwMode="auto">
          <a:xfrm>
            <a:off x="4773168" y="3739896"/>
            <a:ext cx="2651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serves queryable results</a:t>
            </a:r>
            <a:endParaRPr/>
          </a:p>
        </p:txBody>
      </p:sp>
      <p:sp>
        <p:nvSpPr>
          <p:cNvPr id="888341377" name="Rounded Rectangle 29"/>
          <p:cNvSpPr/>
          <p:nvPr/>
        </p:nvSpPr>
        <p:spPr bwMode="auto">
          <a:xfrm>
            <a:off x="8247888" y="3227832"/>
            <a:ext cx="3218688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1239236" name="Rectangle 30"/>
          <p:cNvSpPr/>
          <p:nvPr/>
        </p:nvSpPr>
        <p:spPr bwMode="auto">
          <a:xfrm>
            <a:off x="8247888" y="3227832"/>
            <a:ext cx="73152" cy="960120"/>
          </a:xfrm>
          <a:prstGeom prst="rect">
            <a:avLst/>
          </a:prstGeom>
          <a:solidFill>
            <a:srgbClr val="D35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564251" name="TextBox 31"/>
          <p:cNvSpPr txBox="1"/>
          <p:nvPr/>
        </p:nvSpPr>
        <p:spPr bwMode="auto">
          <a:xfrm>
            <a:off x="8476488" y="3419856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Power BI / ML</a:t>
            </a:r>
            <a:endParaRPr/>
          </a:p>
        </p:txBody>
      </p:sp>
      <p:sp>
        <p:nvSpPr>
          <p:cNvPr id="1139146627" name="TextBox 32"/>
          <p:cNvSpPr txBox="1"/>
          <p:nvPr/>
        </p:nvSpPr>
        <p:spPr bwMode="auto">
          <a:xfrm>
            <a:off x="8476488" y="3739896"/>
            <a:ext cx="2651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consumes Gold data</a:t>
            </a:r>
            <a:endParaRPr/>
          </a:p>
        </p:txBody>
      </p:sp>
      <p:sp>
        <p:nvSpPr>
          <p:cNvPr id="818820311" name="Rounded Rectangle 33"/>
          <p:cNvSpPr/>
          <p:nvPr/>
        </p:nvSpPr>
        <p:spPr bwMode="auto">
          <a:xfrm>
            <a:off x="1097280" y="4983480"/>
            <a:ext cx="10012680" cy="868680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5247379" name="TextBox 34"/>
          <p:cNvSpPr txBox="1"/>
          <p:nvPr/>
        </p:nvSpPr>
        <p:spPr bwMode="auto">
          <a:xfrm>
            <a:off x="1417320" y="5239512"/>
            <a:ext cx="9372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900" b="1" i="0">
                <a:solidFill>
                  <a:srgbClr val="FFFFFF"/>
                </a:solidFill>
                <a:latin typeface="Aptos"/>
              </a:rPr>
              <a:t>Historical data → reliable processing → analytics-ready insight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414093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8940411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01 / CONTEXT</a:t>
            </a:r>
            <a:endParaRPr/>
          </a:p>
        </p:txBody>
      </p:sp>
      <p:sp>
        <p:nvSpPr>
          <p:cNvPr id="24122148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End-to-End architecture</a:t>
            </a:r>
            <a:endParaRPr/>
          </a:p>
        </p:txBody>
      </p:sp>
      <p:sp>
        <p:nvSpPr>
          <p:cNvPr id="309329148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07</a:t>
            </a:r>
            <a:endParaRPr/>
          </a:p>
        </p:txBody>
      </p:sp>
      <p:cxnSp>
        <p:nvCxnSpPr>
          <p:cNvPr id="1802438346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5806896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978449506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pic>
        <p:nvPicPr>
          <p:cNvPr id="7492772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71267" y="1069848"/>
            <a:ext cx="10066124" cy="5326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305190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2776859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02 / FOUNDATION</a:t>
            </a:r>
            <a:endParaRPr/>
          </a:p>
        </p:txBody>
      </p:sp>
      <p:sp>
        <p:nvSpPr>
          <p:cNvPr id="437691367" name="TextBox 3"/>
          <p:cNvSpPr txBox="1"/>
          <p:nvPr/>
        </p:nvSpPr>
        <p:spPr bwMode="auto">
          <a:xfrm>
            <a:off x="530352" y="594360"/>
            <a:ext cx="106070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Docker: one reproducible runtime</a:t>
            </a:r>
            <a:endParaRPr/>
          </a:p>
        </p:txBody>
      </p:sp>
      <p:sp>
        <p:nvSpPr>
          <p:cNvPr id="1531650485" name="TextBox 4"/>
          <p:cNvSpPr txBox="1"/>
          <p:nvPr/>
        </p:nvSpPr>
        <p:spPr bwMode="auto">
          <a:xfrm>
            <a:off x="1129407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08</a:t>
            </a:r>
            <a:endParaRPr/>
          </a:p>
        </p:txBody>
      </p:sp>
      <p:cxnSp>
        <p:nvCxnSpPr>
          <p:cNvPr id="1468345590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0108854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2083931287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446980857" name="TextBox 8"/>
          <p:cNvSpPr txBox="1"/>
          <p:nvPr/>
        </p:nvSpPr>
        <p:spPr bwMode="auto">
          <a:xfrm>
            <a:off x="566928" y="1298448"/>
            <a:ext cx="9601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Each major component runs as an isolated container connected through one Docker network.</a:t>
            </a:r>
            <a:endParaRPr/>
          </a:p>
        </p:txBody>
      </p:sp>
      <p:sp>
        <p:nvSpPr>
          <p:cNvPr id="602724624" name="Rounded Rectangle 9"/>
          <p:cNvSpPr/>
          <p:nvPr/>
        </p:nvSpPr>
        <p:spPr bwMode="auto">
          <a:xfrm>
            <a:off x="658368" y="1865376"/>
            <a:ext cx="6720840" cy="3520440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5004884" name="TextBox 10"/>
          <p:cNvSpPr txBox="1"/>
          <p:nvPr/>
        </p:nvSpPr>
        <p:spPr bwMode="auto">
          <a:xfrm>
            <a:off x="932688" y="2103120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ptos"/>
              </a:rPr>
              <a:t>docker network: stock-pipeline</a:t>
            </a:r>
            <a:endParaRPr/>
          </a:p>
        </p:txBody>
      </p:sp>
      <p:sp>
        <p:nvSpPr>
          <p:cNvPr id="2146712748" name="Rounded Rectangle 11"/>
          <p:cNvSpPr/>
          <p:nvPr/>
        </p:nvSpPr>
        <p:spPr bwMode="auto">
          <a:xfrm>
            <a:off x="932688" y="2743200"/>
            <a:ext cx="1572768" cy="6949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9078505" name="Oval 12"/>
          <p:cNvSpPr/>
          <p:nvPr/>
        </p:nvSpPr>
        <p:spPr bwMode="auto">
          <a:xfrm>
            <a:off x="1078992" y="2907792"/>
            <a:ext cx="365760" cy="365760"/>
          </a:xfrm>
          <a:prstGeom prst="ellipse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5313335" name="TextBox 13"/>
          <p:cNvSpPr txBox="1"/>
          <p:nvPr/>
        </p:nvSpPr>
        <p:spPr bwMode="auto">
          <a:xfrm>
            <a:off x="1078992" y="2916936"/>
            <a:ext cx="36576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M</a:t>
            </a:r>
            <a:endParaRPr/>
          </a:p>
        </p:txBody>
      </p:sp>
      <p:sp>
        <p:nvSpPr>
          <p:cNvPr id="714622774" name="TextBox 14"/>
          <p:cNvSpPr txBox="1"/>
          <p:nvPr/>
        </p:nvSpPr>
        <p:spPr bwMode="auto">
          <a:xfrm>
            <a:off x="1536192" y="2944368"/>
            <a:ext cx="8412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MinIO</a:t>
            </a:r>
            <a:endParaRPr/>
          </a:p>
        </p:txBody>
      </p:sp>
      <p:sp>
        <p:nvSpPr>
          <p:cNvPr id="26878499" name="Rounded Rectangle 15"/>
          <p:cNvSpPr/>
          <p:nvPr/>
        </p:nvSpPr>
        <p:spPr bwMode="auto">
          <a:xfrm>
            <a:off x="2834640" y="2743200"/>
            <a:ext cx="1572768" cy="6949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630515" name="Oval 16"/>
          <p:cNvSpPr/>
          <p:nvPr/>
        </p:nvSpPr>
        <p:spPr bwMode="auto">
          <a:xfrm>
            <a:off x="2980944" y="2907792"/>
            <a:ext cx="365760" cy="365760"/>
          </a:xfrm>
          <a:prstGeom prst="ellipse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466861" name="TextBox 17"/>
          <p:cNvSpPr txBox="1"/>
          <p:nvPr/>
        </p:nvSpPr>
        <p:spPr bwMode="auto">
          <a:xfrm>
            <a:off x="2980944" y="2916936"/>
            <a:ext cx="36576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K</a:t>
            </a:r>
            <a:endParaRPr/>
          </a:p>
        </p:txBody>
      </p:sp>
      <p:sp>
        <p:nvSpPr>
          <p:cNvPr id="154387736" name="TextBox 18"/>
          <p:cNvSpPr txBox="1"/>
          <p:nvPr/>
        </p:nvSpPr>
        <p:spPr bwMode="auto">
          <a:xfrm>
            <a:off x="3438144" y="2944368"/>
            <a:ext cx="8412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Kafka</a:t>
            </a:r>
            <a:endParaRPr/>
          </a:p>
        </p:txBody>
      </p:sp>
      <p:sp>
        <p:nvSpPr>
          <p:cNvPr id="1528598452" name="Rounded Rectangle 19"/>
          <p:cNvSpPr/>
          <p:nvPr/>
        </p:nvSpPr>
        <p:spPr bwMode="auto">
          <a:xfrm>
            <a:off x="4736592" y="2743200"/>
            <a:ext cx="1572768" cy="6949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8868959" name="Oval 20"/>
          <p:cNvSpPr/>
          <p:nvPr/>
        </p:nvSpPr>
        <p:spPr bwMode="auto">
          <a:xfrm>
            <a:off x="4882896" y="2907792"/>
            <a:ext cx="365760" cy="365760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663640" name="TextBox 21"/>
          <p:cNvSpPr txBox="1"/>
          <p:nvPr/>
        </p:nvSpPr>
        <p:spPr bwMode="auto">
          <a:xfrm>
            <a:off x="4882896" y="2916936"/>
            <a:ext cx="36576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S</a:t>
            </a:r>
            <a:endParaRPr/>
          </a:p>
        </p:txBody>
      </p:sp>
      <p:sp>
        <p:nvSpPr>
          <p:cNvPr id="210454508" name="TextBox 22"/>
          <p:cNvSpPr txBox="1"/>
          <p:nvPr/>
        </p:nvSpPr>
        <p:spPr bwMode="auto">
          <a:xfrm>
            <a:off x="5340096" y="2944368"/>
            <a:ext cx="8412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Spark</a:t>
            </a:r>
            <a:endParaRPr/>
          </a:p>
        </p:txBody>
      </p:sp>
      <p:sp>
        <p:nvSpPr>
          <p:cNvPr id="378709712" name="Rounded Rectangle 23"/>
          <p:cNvSpPr/>
          <p:nvPr/>
        </p:nvSpPr>
        <p:spPr bwMode="auto">
          <a:xfrm>
            <a:off x="932688" y="3822191"/>
            <a:ext cx="1572768" cy="6949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088020" name="Oval 24"/>
          <p:cNvSpPr/>
          <p:nvPr/>
        </p:nvSpPr>
        <p:spPr bwMode="auto">
          <a:xfrm>
            <a:off x="1078992" y="3986783"/>
            <a:ext cx="365760" cy="365760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9097338" name="TextBox 25"/>
          <p:cNvSpPr txBox="1"/>
          <p:nvPr/>
        </p:nvSpPr>
        <p:spPr bwMode="auto">
          <a:xfrm>
            <a:off x="1078992" y="3995927"/>
            <a:ext cx="36576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P</a:t>
            </a:r>
            <a:endParaRPr/>
          </a:p>
        </p:txBody>
      </p:sp>
      <p:sp>
        <p:nvSpPr>
          <p:cNvPr id="701354641" name="TextBox 26"/>
          <p:cNvSpPr txBox="1"/>
          <p:nvPr/>
        </p:nvSpPr>
        <p:spPr bwMode="auto">
          <a:xfrm>
            <a:off x="1536192" y="4023359"/>
            <a:ext cx="8412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PostgreSQL</a:t>
            </a:r>
            <a:endParaRPr/>
          </a:p>
        </p:txBody>
      </p:sp>
      <p:sp>
        <p:nvSpPr>
          <p:cNvPr id="1954684730" name="Rounded Rectangle 27"/>
          <p:cNvSpPr/>
          <p:nvPr/>
        </p:nvSpPr>
        <p:spPr bwMode="auto">
          <a:xfrm>
            <a:off x="2834640" y="3822191"/>
            <a:ext cx="1572768" cy="6949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6273611" name="Oval 28"/>
          <p:cNvSpPr/>
          <p:nvPr/>
        </p:nvSpPr>
        <p:spPr bwMode="auto">
          <a:xfrm>
            <a:off x="2980944" y="3986783"/>
            <a:ext cx="365760" cy="365760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3706876" name="TextBox 29"/>
          <p:cNvSpPr txBox="1"/>
          <p:nvPr/>
        </p:nvSpPr>
        <p:spPr bwMode="auto">
          <a:xfrm>
            <a:off x="2980944" y="3995927"/>
            <a:ext cx="36576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1" i="0">
                <a:solidFill>
                  <a:srgbClr val="FFFFFF"/>
                </a:solidFill>
                <a:latin typeface="Aptos"/>
              </a:rPr>
              <a:t>A</a:t>
            </a:r>
            <a:endParaRPr/>
          </a:p>
        </p:txBody>
      </p:sp>
      <p:sp>
        <p:nvSpPr>
          <p:cNvPr id="1989105522" name="TextBox 30"/>
          <p:cNvSpPr txBox="1"/>
          <p:nvPr/>
        </p:nvSpPr>
        <p:spPr bwMode="auto">
          <a:xfrm>
            <a:off x="3438144" y="4023359"/>
            <a:ext cx="8412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Airflow</a:t>
            </a:r>
            <a:endParaRPr/>
          </a:p>
        </p:txBody>
      </p:sp>
      <p:sp>
        <p:nvSpPr>
          <p:cNvPr id="1689957634" name="TextBox 31"/>
          <p:cNvSpPr txBox="1"/>
          <p:nvPr/>
        </p:nvSpPr>
        <p:spPr bwMode="auto">
          <a:xfrm>
            <a:off x="932688" y="4892039"/>
            <a:ext cx="5440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0" i="0">
                <a:solidFill>
                  <a:srgbClr val="BBD1E2"/>
                </a:solidFill>
                <a:latin typeface="Aptos"/>
              </a:rPr>
              <a:t>isolated services • shared network • repeatable setup</a:t>
            </a:r>
            <a:endParaRPr/>
          </a:p>
        </p:txBody>
      </p:sp>
      <p:sp>
        <p:nvSpPr>
          <p:cNvPr id="670268344" name="Rounded Rectangle 32"/>
          <p:cNvSpPr/>
          <p:nvPr/>
        </p:nvSpPr>
        <p:spPr bwMode="auto">
          <a:xfrm>
            <a:off x="7882127" y="1865376"/>
            <a:ext cx="3639312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7227036" name="Rectangle 33"/>
          <p:cNvSpPr/>
          <p:nvPr/>
        </p:nvSpPr>
        <p:spPr bwMode="auto">
          <a:xfrm>
            <a:off x="7882127" y="1865376"/>
            <a:ext cx="54864" cy="1325880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5439799" name="TextBox 34"/>
          <p:cNvSpPr txBox="1"/>
          <p:nvPr/>
        </p:nvSpPr>
        <p:spPr bwMode="auto">
          <a:xfrm>
            <a:off x="8046719" y="2011680"/>
            <a:ext cx="3364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Why Docker?</a:t>
            </a:r>
            <a:endParaRPr/>
          </a:p>
        </p:txBody>
      </p:sp>
      <p:sp>
        <p:nvSpPr>
          <p:cNvPr id="1298408291" name="TextBox 35"/>
          <p:cNvSpPr txBox="1"/>
          <p:nvPr/>
        </p:nvSpPr>
        <p:spPr bwMode="auto">
          <a:xfrm>
            <a:off x="8046719" y="2395728"/>
            <a:ext cx="3346704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50" b="0" i="0">
                <a:solidFill>
                  <a:srgbClr val="586A7E"/>
                </a:solidFill>
                <a:latin typeface="Aptos"/>
              </a:rPr>
              <a:t>Avoids installing every technology directly on the host machine.</a:t>
            </a:r>
            <a:endParaRPr/>
          </a:p>
        </p:txBody>
      </p:sp>
      <p:sp>
        <p:nvSpPr>
          <p:cNvPr id="1822274576" name="Rounded Rectangle 36"/>
          <p:cNvSpPr/>
          <p:nvPr/>
        </p:nvSpPr>
        <p:spPr bwMode="auto">
          <a:xfrm>
            <a:off x="7882127" y="3419856"/>
            <a:ext cx="3639312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659620" name="Rectangle 37"/>
          <p:cNvSpPr/>
          <p:nvPr/>
        </p:nvSpPr>
        <p:spPr bwMode="auto">
          <a:xfrm>
            <a:off x="7882127" y="3419856"/>
            <a:ext cx="54864" cy="1325880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8949448" name="TextBox 38"/>
          <p:cNvSpPr txBox="1"/>
          <p:nvPr/>
        </p:nvSpPr>
        <p:spPr bwMode="auto">
          <a:xfrm>
            <a:off x="8046719" y="3566160"/>
            <a:ext cx="3364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What it enables</a:t>
            </a:r>
            <a:endParaRPr/>
          </a:p>
        </p:txBody>
      </p:sp>
      <p:sp>
        <p:nvSpPr>
          <p:cNvPr id="210247535" name="TextBox 39"/>
          <p:cNvSpPr txBox="1"/>
          <p:nvPr/>
        </p:nvSpPr>
        <p:spPr bwMode="auto">
          <a:xfrm>
            <a:off x="8046719" y="3950208"/>
            <a:ext cx="3346704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50" b="0" i="0">
                <a:solidFill>
                  <a:srgbClr val="586A7E"/>
                </a:solidFill>
                <a:latin typeface="Aptos"/>
              </a:rPr>
              <a:t>Consistent service versions, simple startup, and clear component boundaries.</a:t>
            </a:r>
            <a:endParaRPr/>
          </a:p>
        </p:txBody>
      </p:sp>
      <p:sp>
        <p:nvSpPr>
          <p:cNvPr id="731935692" name="Rounded Rectangle 40"/>
          <p:cNvSpPr/>
          <p:nvPr/>
        </p:nvSpPr>
        <p:spPr bwMode="auto">
          <a:xfrm>
            <a:off x="7882127" y="4974336"/>
            <a:ext cx="3639312" cy="868680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6706230" name="Rectangle 41"/>
          <p:cNvSpPr/>
          <p:nvPr/>
        </p:nvSpPr>
        <p:spPr bwMode="auto">
          <a:xfrm>
            <a:off x="7882127" y="4974336"/>
            <a:ext cx="54864" cy="868680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5825231" name="TextBox 42"/>
          <p:cNvSpPr txBox="1"/>
          <p:nvPr/>
        </p:nvSpPr>
        <p:spPr bwMode="auto">
          <a:xfrm>
            <a:off x="8046719" y="5120640"/>
            <a:ext cx="3364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Key idea</a:t>
            </a:r>
            <a:endParaRPr/>
          </a:p>
        </p:txBody>
      </p:sp>
      <p:sp>
        <p:nvSpPr>
          <p:cNvPr id="1275722986" name="TextBox 43"/>
          <p:cNvSpPr txBox="1"/>
          <p:nvPr/>
        </p:nvSpPr>
        <p:spPr bwMode="auto">
          <a:xfrm>
            <a:off x="8046719" y="5504687"/>
            <a:ext cx="3346704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00" b="0" i="0">
                <a:solidFill>
                  <a:srgbClr val="586A7E"/>
                </a:solidFill>
                <a:latin typeface="Aptos"/>
              </a:rPr>
              <a:t>The pipeline behaves as one system of cooperating services.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494729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910021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02 / FOUNDATION</a:t>
            </a:r>
            <a:endParaRPr/>
          </a:p>
        </p:txBody>
      </p:sp>
      <p:sp>
        <p:nvSpPr>
          <p:cNvPr id="1907181517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MinIO: The data lake</a:t>
            </a:r>
            <a:endParaRPr/>
          </a:p>
        </p:txBody>
      </p:sp>
      <p:sp>
        <p:nvSpPr>
          <p:cNvPr id="1771635383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09</a:t>
            </a:r>
            <a:endParaRPr/>
          </a:p>
        </p:txBody>
      </p:sp>
      <p:cxnSp>
        <p:nvCxnSpPr>
          <p:cNvPr id="1105410538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8628299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2095754667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548087336" name="TextBox 8"/>
          <p:cNvSpPr txBox="1"/>
          <p:nvPr/>
        </p:nvSpPr>
        <p:spPr bwMode="auto">
          <a:xfrm>
            <a:off x="566928" y="1298448"/>
            <a:ext cx="8509679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Object storage for raw, cleaned, and analytics-ready datasets.</a:t>
            </a:r>
            <a:endParaRPr/>
          </a:p>
        </p:txBody>
      </p:sp>
      <p:sp>
        <p:nvSpPr>
          <p:cNvPr id="901164896" name="Rounded Rectangle 9"/>
          <p:cNvSpPr/>
          <p:nvPr/>
        </p:nvSpPr>
        <p:spPr bwMode="auto">
          <a:xfrm>
            <a:off x="841248" y="2011680"/>
            <a:ext cx="3246120" cy="2697480"/>
          </a:xfrm>
          <a:prstGeom prst="roundRect">
            <a:avLst>
              <a:gd name="adj" fmla="val 16667"/>
            </a:avLst>
          </a:prstGeom>
          <a:solidFill>
            <a:srgbClr val="FD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85353" name="Rectangle 10"/>
          <p:cNvSpPr/>
          <p:nvPr/>
        </p:nvSpPr>
        <p:spPr bwMode="auto">
          <a:xfrm>
            <a:off x="841248" y="2011680"/>
            <a:ext cx="3246120" cy="109728"/>
          </a:xfrm>
          <a:prstGeom prst="rect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1722636" name="TextBox 11"/>
          <p:cNvSpPr txBox="1"/>
          <p:nvPr/>
        </p:nvSpPr>
        <p:spPr bwMode="auto">
          <a:xfrm>
            <a:off x="1060704" y="23591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900" b="1" i="0">
                <a:solidFill>
                  <a:srgbClr val="082448"/>
                </a:solidFill>
                <a:latin typeface="Aptos"/>
              </a:rPr>
              <a:t>BRONZE</a:t>
            </a:r>
            <a:endParaRPr/>
          </a:p>
        </p:txBody>
      </p:sp>
      <p:sp>
        <p:nvSpPr>
          <p:cNvPr id="545266843" name="TextBox 12"/>
          <p:cNvSpPr txBox="1"/>
          <p:nvPr/>
        </p:nvSpPr>
        <p:spPr bwMode="auto">
          <a:xfrm>
            <a:off x="1060704" y="2761488"/>
            <a:ext cx="26517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EF9F40"/>
                </a:solidFill>
                <a:latin typeface="Aptos"/>
              </a:rPr>
              <a:t>Raw landing zone</a:t>
            </a:r>
            <a:endParaRPr/>
          </a:p>
        </p:txBody>
      </p:sp>
      <p:sp>
        <p:nvSpPr>
          <p:cNvPr id="769192392" name="TextBox 13"/>
          <p:cNvSpPr txBox="1"/>
          <p:nvPr/>
        </p:nvSpPr>
        <p:spPr bwMode="auto">
          <a:xfrm>
            <a:off x="1060704" y="3246120"/>
            <a:ext cx="2697480" cy="1051560"/>
          </a:xfrm>
          <a:prstGeom prst="rect">
            <a:avLst/>
          </a:prstGeom>
          <a:noFill/>
        </p:spPr>
        <p:txBody>
          <a:bodyPr wrap="square" lIns="9144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Bronze: 3.16 GB raw CSV (51.59M records)</a:t>
            </a:r>
            <a:endParaRPr/>
          </a:p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sp500_companies.csv metadata (505 tickers)</a:t>
            </a:r>
            <a:endParaRPr/>
          </a:p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Zero mutation landing tier in MinIO S3</a:t>
            </a:r>
            <a:endParaRPr/>
          </a:p>
        </p:txBody>
      </p:sp>
      <p:cxnSp>
        <p:nvCxnSpPr>
          <p:cNvPr id="285375342" name="Connector 14"/>
          <p:cNvCxnSpPr/>
          <p:nvPr/>
        </p:nvCxnSpPr>
        <p:spPr bwMode="auto">
          <a:xfrm>
            <a:off x="4187952" y="3355848"/>
            <a:ext cx="338328" cy="0"/>
          </a:xfrm>
          <a:prstGeom prst="line">
            <a:avLst/>
          </a:prstGeom>
          <a:ln w="25400">
            <a:solidFill>
              <a:srgbClr val="EF9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6742170" name="Rounded Rectangle 15"/>
          <p:cNvSpPr/>
          <p:nvPr/>
        </p:nvSpPr>
        <p:spPr bwMode="auto">
          <a:xfrm>
            <a:off x="4617720" y="2011680"/>
            <a:ext cx="3246120" cy="2697480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1380875" name="Rectangle 16"/>
          <p:cNvSpPr/>
          <p:nvPr/>
        </p:nvSpPr>
        <p:spPr bwMode="auto">
          <a:xfrm>
            <a:off x="4617720" y="2011680"/>
            <a:ext cx="3246120" cy="109728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1235728" name="TextBox 17"/>
          <p:cNvSpPr txBox="1"/>
          <p:nvPr/>
        </p:nvSpPr>
        <p:spPr bwMode="auto">
          <a:xfrm>
            <a:off x="4837176" y="23591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900" b="1" i="0">
                <a:solidFill>
                  <a:srgbClr val="082448"/>
                </a:solidFill>
                <a:latin typeface="Aptos"/>
              </a:rPr>
              <a:t>SILVER</a:t>
            </a:r>
            <a:endParaRPr/>
          </a:p>
        </p:txBody>
      </p:sp>
      <p:sp>
        <p:nvSpPr>
          <p:cNvPr id="1996368300" name="TextBox 18"/>
          <p:cNvSpPr txBox="1"/>
          <p:nvPr/>
        </p:nvSpPr>
        <p:spPr bwMode="auto">
          <a:xfrm>
            <a:off x="4837176" y="2761488"/>
            <a:ext cx="26517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00AEBE"/>
                </a:solidFill>
                <a:latin typeface="Aptos"/>
              </a:rPr>
              <a:t>Trusted data</a:t>
            </a:r>
            <a:endParaRPr/>
          </a:p>
        </p:txBody>
      </p:sp>
      <p:sp>
        <p:nvSpPr>
          <p:cNvPr id="275427615" name="TextBox 19"/>
          <p:cNvSpPr txBox="1"/>
          <p:nvPr/>
        </p:nvSpPr>
        <p:spPr bwMode="auto">
          <a:xfrm>
            <a:off x="4837176" y="3246120"/>
            <a:ext cx="2697480" cy="1051560"/>
          </a:xfrm>
          <a:prstGeom prst="rect">
            <a:avLst/>
          </a:prstGeom>
          <a:noFill/>
        </p:spPr>
        <p:txBody>
          <a:bodyPr wrap="square" lIns="9144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Silver: 25 Snappy Parquet files</a:t>
            </a:r>
            <a:endParaRPr/>
          </a:p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Partitioned by year/month in MinIO</a:t>
            </a:r>
            <a:endParaRPr/>
          </a:p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Validated &amp; clean with financial features</a:t>
            </a:r>
            <a:endParaRPr/>
          </a:p>
        </p:txBody>
      </p:sp>
      <p:cxnSp>
        <p:nvCxnSpPr>
          <p:cNvPr id="852026105" name="Connector 20"/>
          <p:cNvCxnSpPr/>
          <p:nvPr/>
        </p:nvCxnSpPr>
        <p:spPr bwMode="auto">
          <a:xfrm>
            <a:off x="7964424" y="3355848"/>
            <a:ext cx="33832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026867" name="Rounded Rectangle 21"/>
          <p:cNvSpPr/>
          <p:nvPr/>
        </p:nvSpPr>
        <p:spPr bwMode="auto">
          <a:xfrm>
            <a:off x="8394192" y="2011680"/>
            <a:ext cx="3246120" cy="2697480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3027745" name="Rectangle 22"/>
          <p:cNvSpPr/>
          <p:nvPr/>
        </p:nvSpPr>
        <p:spPr bwMode="auto">
          <a:xfrm>
            <a:off x="8394192" y="2011680"/>
            <a:ext cx="3246120" cy="109728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0274355" name="TextBox 23"/>
          <p:cNvSpPr txBox="1"/>
          <p:nvPr/>
        </p:nvSpPr>
        <p:spPr bwMode="auto">
          <a:xfrm>
            <a:off x="8613648" y="2359152"/>
            <a:ext cx="1097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900" b="1" i="0">
                <a:solidFill>
                  <a:srgbClr val="082448"/>
                </a:solidFill>
                <a:latin typeface="Aptos"/>
              </a:rPr>
              <a:t>GOLD</a:t>
            </a:r>
            <a:endParaRPr/>
          </a:p>
        </p:txBody>
      </p:sp>
      <p:sp>
        <p:nvSpPr>
          <p:cNvPr id="2055525922" name="TextBox 24"/>
          <p:cNvSpPr txBox="1"/>
          <p:nvPr/>
        </p:nvSpPr>
        <p:spPr bwMode="auto">
          <a:xfrm>
            <a:off x="8613648" y="2761488"/>
            <a:ext cx="26517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7256CF"/>
                </a:solidFill>
                <a:latin typeface="Aptos"/>
              </a:rPr>
              <a:t>Analytics-ready</a:t>
            </a:r>
            <a:endParaRPr/>
          </a:p>
        </p:txBody>
      </p:sp>
      <p:sp>
        <p:nvSpPr>
          <p:cNvPr id="409458823" name="TextBox 25"/>
          <p:cNvSpPr txBox="1"/>
          <p:nvPr/>
        </p:nvSpPr>
        <p:spPr bwMode="auto">
          <a:xfrm>
            <a:off x="8613648" y="3246120"/>
            <a:ext cx="2697480" cy="1051560"/>
          </a:xfrm>
          <a:prstGeom prst="rect">
            <a:avLst/>
          </a:prstGeom>
          <a:noFill/>
        </p:spPr>
        <p:txBody>
          <a:bodyPr wrap="square" lIns="9144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Gold: 19 Parquet files (daily &amp; stream metrics)</a:t>
            </a:r>
            <a:endParaRPr/>
          </a:p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Checkpoints: 58 state store commit objects</a:t>
            </a:r>
            <a:endParaRPr/>
          </a:p>
          <a:p>
            <a:pPr>
              <a:lnSpc>
                <a:spcPct val="105000"/>
              </a:lnSpc>
              <a:spcAft>
                <a:spcPts val="80"/>
              </a:spcAft>
              <a:buChar char="•"/>
              <a:defRPr/>
            </a:pPr>
            <a:r>
              <a:t>PostgreSQL: 25,500 daily + 4,335 streaming rows</a:t>
            </a:r>
            <a:endParaRPr/>
          </a:p>
        </p:txBody>
      </p:sp>
      <p:sp>
        <p:nvSpPr>
          <p:cNvPr id="389085623" name="Rounded Rectangle 26"/>
          <p:cNvSpPr/>
          <p:nvPr/>
        </p:nvSpPr>
        <p:spPr bwMode="auto">
          <a:xfrm>
            <a:off x="1892807" y="5285232"/>
            <a:ext cx="8412480" cy="621792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4394515" name="TextBox 27"/>
          <p:cNvSpPr txBox="1"/>
          <p:nvPr/>
        </p:nvSpPr>
        <p:spPr bwMode="auto">
          <a:xfrm>
            <a:off x="2084831" y="5477255"/>
            <a:ext cx="8028431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Object storage keeps the pipeline decoupled from the tools that process or query the data.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60177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3027326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02 / FOUNDATION</a:t>
            </a:r>
            <a:endParaRPr/>
          </a:p>
        </p:txBody>
      </p:sp>
      <p:sp>
        <p:nvSpPr>
          <p:cNvPr id="120036607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Kafka: The event backbone</a:t>
            </a:r>
            <a:endParaRPr/>
          </a:p>
        </p:txBody>
      </p:sp>
      <p:sp>
        <p:nvSpPr>
          <p:cNvPr id="162687457" name="TextBox 4"/>
          <p:cNvSpPr txBox="1"/>
          <p:nvPr/>
        </p:nvSpPr>
        <p:spPr bwMode="auto">
          <a:xfrm>
            <a:off x="11228831" y="411480"/>
            <a:ext cx="47692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10</a:t>
            </a:r>
            <a:endParaRPr/>
          </a:p>
        </p:txBody>
      </p:sp>
      <p:cxnSp>
        <p:nvCxnSpPr>
          <p:cNvPr id="1191875056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4349557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093410113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176359280" name="TextBox 8"/>
          <p:cNvSpPr txBox="1"/>
          <p:nvPr/>
        </p:nvSpPr>
        <p:spPr bwMode="auto">
          <a:xfrm>
            <a:off x="566928" y="1298448"/>
            <a:ext cx="8961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Historical records are converted into JSON events and replayed through a Kafka topic.</a:t>
            </a:r>
            <a:endParaRPr/>
          </a:p>
        </p:txBody>
      </p:sp>
      <p:sp>
        <p:nvSpPr>
          <p:cNvPr id="1754236994" name="Rounded Rectangle 9"/>
          <p:cNvSpPr/>
          <p:nvPr/>
        </p:nvSpPr>
        <p:spPr bwMode="auto">
          <a:xfrm>
            <a:off x="768096" y="2377440"/>
            <a:ext cx="2057400" cy="1143000"/>
          </a:xfrm>
          <a:prstGeom prst="roundRect">
            <a:avLst>
              <a:gd name="adj" fmla="val 16667"/>
            </a:avLst>
          </a:prstGeom>
          <a:solidFill>
            <a:srgbClr val="FB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4466763" name="Rectangle 10"/>
          <p:cNvSpPr/>
          <p:nvPr/>
        </p:nvSpPr>
        <p:spPr bwMode="auto">
          <a:xfrm>
            <a:off x="768096" y="2377440"/>
            <a:ext cx="2057400" cy="64008"/>
          </a:xfrm>
          <a:prstGeom prst="rect">
            <a:avLst/>
          </a:prstGeom>
          <a:solidFill>
            <a:srgbClr val="D35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3490333" name="TextBox 11"/>
          <p:cNvSpPr txBox="1"/>
          <p:nvPr/>
        </p:nvSpPr>
        <p:spPr bwMode="auto">
          <a:xfrm>
            <a:off x="877824" y="2542032"/>
            <a:ext cx="1837943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50" b="1" i="0">
                <a:solidFill>
                  <a:srgbClr val="17273A"/>
                </a:solidFill>
                <a:latin typeface="Aptos"/>
              </a:rPr>
              <a:t>Producer</a:t>
            </a:r>
            <a:endParaRPr/>
          </a:p>
        </p:txBody>
      </p:sp>
      <p:sp>
        <p:nvSpPr>
          <p:cNvPr id="1187230906" name="TextBox 12"/>
          <p:cNvSpPr txBox="1"/>
          <p:nvPr/>
        </p:nvSpPr>
        <p:spPr bwMode="auto">
          <a:xfrm>
            <a:off x="877824" y="2880360"/>
            <a:ext cx="1837943" cy="539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Kafka 4.0 KRaft mode (No Zookeeper required)</a:t>
            </a:r>
            <a:endParaRPr/>
          </a:p>
        </p:txBody>
      </p:sp>
      <p:cxnSp>
        <p:nvCxnSpPr>
          <p:cNvPr id="1951940152" name="Connector 13"/>
          <p:cNvCxnSpPr/>
          <p:nvPr/>
        </p:nvCxnSpPr>
        <p:spPr bwMode="auto">
          <a:xfrm>
            <a:off x="2999232" y="2944368"/>
            <a:ext cx="694944" cy="0"/>
          </a:xfrm>
          <a:prstGeom prst="line">
            <a:avLst/>
          </a:prstGeom>
          <a:ln w="27940">
            <a:solidFill>
              <a:srgbClr val="D35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157564" name="Rounded Rectangle 14"/>
          <p:cNvSpPr/>
          <p:nvPr/>
        </p:nvSpPr>
        <p:spPr bwMode="auto">
          <a:xfrm>
            <a:off x="3822191" y="1874519"/>
            <a:ext cx="3730752" cy="2148840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479481" name="TextBox 15"/>
          <p:cNvSpPr txBox="1"/>
          <p:nvPr/>
        </p:nvSpPr>
        <p:spPr bwMode="auto">
          <a:xfrm>
            <a:off x="4096512" y="2157984"/>
            <a:ext cx="14630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00AEBE"/>
                </a:solidFill>
                <a:latin typeface="Aptos"/>
              </a:rPr>
              <a:t>KAFKA TOPIC</a:t>
            </a:r>
            <a:endParaRPr/>
          </a:p>
        </p:txBody>
      </p:sp>
      <p:sp>
        <p:nvSpPr>
          <p:cNvPr id="1655474321" name="TextBox 16"/>
          <p:cNvSpPr txBox="1"/>
          <p:nvPr/>
        </p:nvSpPr>
        <p:spPr bwMode="auto">
          <a:xfrm>
            <a:off x="4096512" y="2487168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1" i="0">
                <a:solidFill>
                  <a:srgbClr val="FFFFFF"/>
                </a:solidFill>
                <a:latin typeface="Aptos"/>
              </a:rPr>
              <a:t>stock-market-data</a:t>
            </a:r>
            <a:endParaRPr/>
          </a:p>
        </p:txBody>
      </p:sp>
      <p:sp>
        <p:nvSpPr>
          <p:cNvPr id="1080861001" name="Rounded Rectangle 17"/>
          <p:cNvSpPr/>
          <p:nvPr/>
        </p:nvSpPr>
        <p:spPr bwMode="auto">
          <a:xfrm>
            <a:off x="4096512" y="3081528"/>
            <a:ext cx="749808" cy="438912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8896341" name="TextBox 18"/>
          <p:cNvSpPr txBox="1"/>
          <p:nvPr/>
        </p:nvSpPr>
        <p:spPr bwMode="auto">
          <a:xfrm>
            <a:off x="4096512" y="3200400"/>
            <a:ext cx="74980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082448"/>
                </a:solidFill>
                <a:latin typeface="Aptos"/>
              </a:rPr>
              <a:t>P0</a:t>
            </a:r>
            <a:endParaRPr/>
          </a:p>
        </p:txBody>
      </p:sp>
      <p:sp>
        <p:nvSpPr>
          <p:cNvPr id="1613298824" name="Rounded Rectangle 19"/>
          <p:cNvSpPr/>
          <p:nvPr/>
        </p:nvSpPr>
        <p:spPr bwMode="auto">
          <a:xfrm>
            <a:off x="5084064" y="3081528"/>
            <a:ext cx="749808" cy="438912"/>
          </a:xfrm>
          <a:prstGeom prst="roundRect">
            <a:avLst>
              <a:gd name="adj" fmla="val 16667"/>
            </a:avLst>
          </a:prstGeom>
          <a:solidFill>
            <a:srgbClr val="FD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3854137" name="TextBox 20"/>
          <p:cNvSpPr txBox="1"/>
          <p:nvPr/>
        </p:nvSpPr>
        <p:spPr bwMode="auto">
          <a:xfrm>
            <a:off x="5084064" y="3200400"/>
            <a:ext cx="74980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082448"/>
                </a:solidFill>
                <a:latin typeface="Aptos"/>
              </a:rPr>
              <a:t>P1</a:t>
            </a:r>
            <a:endParaRPr/>
          </a:p>
        </p:txBody>
      </p:sp>
      <p:sp>
        <p:nvSpPr>
          <p:cNvPr id="286755967" name="Rounded Rectangle 21"/>
          <p:cNvSpPr/>
          <p:nvPr/>
        </p:nvSpPr>
        <p:spPr bwMode="auto">
          <a:xfrm>
            <a:off x="6071616" y="3081528"/>
            <a:ext cx="749808" cy="438912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7855524" name="TextBox 22"/>
          <p:cNvSpPr txBox="1"/>
          <p:nvPr/>
        </p:nvSpPr>
        <p:spPr bwMode="auto">
          <a:xfrm>
            <a:off x="6071616" y="3200400"/>
            <a:ext cx="74980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082448"/>
                </a:solidFill>
                <a:latin typeface="Aptos"/>
              </a:rPr>
              <a:t>P2</a:t>
            </a:r>
            <a:endParaRPr/>
          </a:p>
        </p:txBody>
      </p:sp>
      <p:sp>
        <p:nvSpPr>
          <p:cNvPr id="2016143473" name="TextBox 23"/>
          <p:cNvSpPr txBox="1"/>
          <p:nvPr/>
        </p:nvSpPr>
        <p:spPr bwMode="auto">
          <a:xfrm>
            <a:off x="4096512" y="3657600"/>
            <a:ext cx="3063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3 balanced partitions keyed by ticker symbol (MurmurHash2)</a:t>
            </a:r>
            <a:endParaRPr/>
          </a:p>
        </p:txBody>
      </p:sp>
      <p:cxnSp>
        <p:nvCxnSpPr>
          <p:cNvPr id="1910245971" name="Connector 24"/>
          <p:cNvCxnSpPr/>
          <p:nvPr/>
        </p:nvCxnSpPr>
        <p:spPr bwMode="auto">
          <a:xfrm>
            <a:off x="7699248" y="2944368"/>
            <a:ext cx="694944" cy="0"/>
          </a:xfrm>
          <a:prstGeom prst="line">
            <a:avLst/>
          </a:prstGeom>
          <a:ln w="27940">
            <a:solidFill>
              <a:srgbClr val="EF9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435091" name="Rounded Rectangle 25"/>
          <p:cNvSpPr/>
          <p:nvPr/>
        </p:nvSpPr>
        <p:spPr bwMode="auto">
          <a:xfrm>
            <a:off x="8522208" y="2377440"/>
            <a:ext cx="2514600" cy="1143000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8634426" name="Rectangle 26"/>
          <p:cNvSpPr/>
          <p:nvPr/>
        </p:nvSpPr>
        <p:spPr bwMode="auto">
          <a:xfrm>
            <a:off x="8522208" y="2377440"/>
            <a:ext cx="2514600" cy="64008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117555" name="TextBox 27"/>
          <p:cNvSpPr txBox="1"/>
          <p:nvPr/>
        </p:nvSpPr>
        <p:spPr bwMode="auto">
          <a:xfrm>
            <a:off x="8631936" y="2542032"/>
            <a:ext cx="229514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50" b="1" i="0">
                <a:solidFill>
                  <a:srgbClr val="17273A"/>
                </a:solidFill>
                <a:latin typeface="Aptos"/>
              </a:rPr>
              <a:t>Spark Structured Streaming</a:t>
            </a:r>
            <a:endParaRPr/>
          </a:p>
        </p:txBody>
      </p:sp>
      <p:sp>
        <p:nvSpPr>
          <p:cNvPr id="981711201" name="TextBox 28"/>
          <p:cNvSpPr txBox="1"/>
          <p:nvPr/>
        </p:nvSpPr>
        <p:spPr bwMode="auto">
          <a:xfrm>
            <a:off x="8631936" y="2880360"/>
            <a:ext cx="2295144" cy="539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950" b="0" i="0">
                <a:solidFill>
                  <a:srgbClr val="586A7E"/>
                </a:solidFill>
                <a:latin typeface="Aptos"/>
              </a:rPr>
              <a:t>consumes events</a:t>
            </a:r>
            <a:br>
              <a:rPr sz="950" b="0" i="0">
                <a:solidFill>
                  <a:srgbClr val="586A7E"/>
                </a:solidFill>
                <a:latin typeface="Aptos"/>
              </a:rPr>
            </a:br>
            <a:r>
              <a:rPr sz="950" b="0" i="0">
                <a:solidFill>
                  <a:srgbClr val="586A7E"/>
                </a:solidFill>
                <a:latin typeface="Aptos"/>
              </a:rPr>
              <a:t>processes continuously</a:t>
            </a:r>
            <a:endParaRPr/>
          </a:p>
        </p:txBody>
      </p:sp>
      <p:sp>
        <p:nvSpPr>
          <p:cNvPr id="1813669080" name="Rounded Rectangle 29"/>
          <p:cNvSpPr/>
          <p:nvPr/>
        </p:nvSpPr>
        <p:spPr bwMode="auto">
          <a:xfrm>
            <a:off x="950976" y="4590288"/>
            <a:ext cx="4736592" cy="1005840"/>
          </a:xfrm>
          <a:prstGeom prst="roundRect">
            <a:avLst>
              <a:gd name="adj" fmla="val 16667"/>
            </a:avLst>
          </a:prstGeom>
          <a:solidFill>
            <a:srgbClr val="FD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3866630" name="Rectangle 30"/>
          <p:cNvSpPr/>
          <p:nvPr/>
        </p:nvSpPr>
        <p:spPr bwMode="auto">
          <a:xfrm>
            <a:off x="950976" y="4590288"/>
            <a:ext cx="54864" cy="1005840"/>
          </a:xfrm>
          <a:prstGeom prst="rect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469351" name="TextBox 31"/>
          <p:cNvSpPr txBox="1"/>
          <p:nvPr/>
        </p:nvSpPr>
        <p:spPr bwMode="auto">
          <a:xfrm>
            <a:off x="1115568" y="4736592"/>
            <a:ext cx="446227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Important clarification</a:t>
            </a:r>
            <a:endParaRPr/>
          </a:p>
        </p:txBody>
      </p:sp>
      <p:sp>
        <p:nvSpPr>
          <p:cNvPr id="1286525324" name="TextBox 32"/>
          <p:cNvSpPr txBox="1"/>
          <p:nvPr/>
        </p:nvSpPr>
        <p:spPr bwMode="auto">
          <a:xfrm>
            <a:off x="1115568" y="5120640"/>
            <a:ext cx="44439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t>Streamed 100,000 real events at ~1,112 rec/sec with strict per-stock event ordering.</a:t>
            </a:r>
            <a:endParaRPr/>
          </a:p>
        </p:txBody>
      </p:sp>
      <p:sp>
        <p:nvSpPr>
          <p:cNvPr id="1959611218" name="Rounded Rectangle 33"/>
          <p:cNvSpPr/>
          <p:nvPr/>
        </p:nvSpPr>
        <p:spPr bwMode="auto">
          <a:xfrm>
            <a:off x="6254496" y="4590288"/>
            <a:ext cx="4736592" cy="100584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218100" name="Rectangle 34"/>
          <p:cNvSpPr/>
          <p:nvPr/>
        </p:nvSpPr>
        <p:spPr bwMode="auto">
          <a:xfrm>
            <a:off x="6254496" y="4590288"/>
            <a:ext cx="54864" cy="1005840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3839288" name="TextBox 35"/>
          <p:cNvSpPr txBox="1"/>
          <p:nvPr/>
        </p:nvSpPr>
        <p:spPr bwMode="auto">
          <a:xfrm>
            <a:off x="6419088" y="4736592"/>
            <a:ext cx="446227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Why Kafka?</a:t>
            </a:r>
            <a:endParaRPr/>
          </a:p>
        </p:txBody>
      </p:sp>
      <p:sp>
        <p:nvSpPr>
          <p:cNvPr id="1653004970" name="TextBox 36"/>
          <p:cNvSpPr txBox="1"/>
          <p:nvPr/>
        </p:nvSpPr>
        <p:spPr bwMode="auto">
          <a:xfrm>
            <a:off x="6419088" y="5120640"/>
            <a:ext cx="444398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50" b="0" i="0">
                <a:solidFill>
                  <a:srgbClr val="586A7E"/>
                </a:solidFill>
                <a:latin typeface="Aptos"/>
              </a:rPr>
              <a:t>It separates the producer from the processor and provides an ordered event log.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755847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2315605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03 / PROCESSING</a:t>
            </a:r>
            <a:endParaRPr/>
          </a:p>
        </p:txBody>
      </p:sp>
      <p:sp>
        <p:nvSpPr>
          <p:cNvPr id="2090812789" name="TextBox 3"/>
          <p:cNvSpPr txBox="1"/>
          <p:nvPr/>
        </p:nvSpPr>
        <p:spPr bwMode="auto">
          <a:xfrm>
            <a:off x="530352" y="594360"/>
            <a:ext cx="1060847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Spark Batch Processing</a:t>
            </a:r>
            <a:endParaRPr/>
          </a:p>
        </p:txBody>
      </p:sp>
      <p:sp>
        <p:nvSpPr>
          <p:cNvPr id="2080840396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11</a:t>
            </a:r>
            <a:endParaRPr/>
          </a:p>
        </p:txBody>
      </p:sp>
      <p:cxnSp>
        <p:nvCxnSpPr>
          <p:cNvPr id="1920439835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0267817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624234997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123206346" name="TextBox 8"/>
          <p:cNvSpPr txBox="1"/>
          <p:nvPr/>
        </p:nvSpPr>
        <p:spPr bwMode="auto">
          <a:xfrm>
            <a:off x="566928" y="1298448"/>
            <a:ext cx="9144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Spark 3.5.6 reads 3.16 GB from MinIO Bronze and enriches with 500+ company profiles.</a:t>
            </a:r>
            <a:endParaRPr/>
          </a:p>
        </p:txBody>
      </p:sp>
      <p:sp>
        <p:nvSpPr>
          <p:cNvPr id="80648298" name="Rounded Rectangle 9"/>
          <p:cNvSpPr/>
          <p:nvPr/>
        </p:nvSpPr>
        <p:spPr bwMode="auto">
          <a:xfrm>
            <a:off x="804672" y="2231136"/>
            <a:ext cx="1856231" cy="1207008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2651028" name="Oval 10"/>
          <p:cNvSpPr/>
          <p:nvPr/>
        </p:nvSpPr>
        <p:spPr bwMode="auto">
          <a:xfrm>
            <a:off x="1463040" y="2468880"/>
            <a:ext cx="502920" cy="502920"/>
          </a:xfrm>
          <a:prstGeom prst="ellipse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4929093" name="TextBox 11"/>
          <p:cNvSpPr txBox="1"/>
          <p:nvPr/>
        </p:nvSpPr>
        <p:spPr bwMode="auto">
          <a:xfrm>
            <a:off x="1463040" y="2478024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  <a:endParaRPr/>
          </a:p>
        </p:txBody>
      </p:sp>
      <p:sp>
        <p:nvSpPr>
          <p:cNvPr id="1523452746" name="TextBox 12"/>
          <p:cNvSpPr txBox="1"/>
          <p:nvPr/>
        </p:nvSpPr>
        <p:spPr bwMode="auto">
          <a:xfrm>
            <a:off x="969264" y="3090672"/>
            <a:ext cx="15361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Read</a:t>
            </a:r>
            <a:endParaRPr/>
          </a:p>
        </p:txBody>
      </p:sp>
      <p:sp>
        <p:nvSpPr>
          <p:cNvPr id="1791713461" name="TextBox 13"/>
          <p:cNvSpPr txBox="1"/>
          <p:nvPr/>
        </p:nvSpPr>
        <p:spPr bwMode="auto">
          <a:xfrm>
            <a:off x="937259" y="3500711"/>
            <a:ext cx="15544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Read 3.16 GB raw CSV from s3a://stock-data/bronze/</a:t>
            </a:r>
            <a:endParaRPr/>
          </a:p>
        </p:txBody>
      </p:sp>
      <p:cxnSp>
        <p:nvCxnSpPr>
          <p:cNvPr id="1385110235" name="Connector 14"/>
          <p:cNvCxnSpPr/>
          <p:nvPr/>
        </p:nvCxnSpPr>
        <p:spPr bwMode="auto">
          <a:xfrm>
            <a:off x="2724911" y="2834640"/>
            <a:ext cx="228600" cy="0"/>
          </a:xfrm>
          <a:prstGeom prst="line">
            <a:avLst/>
          </a:prstGeom>
          <a:ln w="2159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4014103" name="Rounded Rectangle 15"/>
          <p:cNvSpPr/>
          <p:nvPr/>
        </p:nvSpPr>
        <p:spPr bwMode="auto">
          <a:xfrm>
            <a:off x="3054096" y="2231136"/>
            <a:ext cx="1856231" cy="12070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6438281" name="Oval 16"/>
          <p:cNvSpPr/>
          <p:nvPr/>
        </p:nvSpPr>
        <p:spPr bwMode="auto">
          <a:xfrm>
            <a:off x="3712463" y="2468880"/>
            <a:ext cx="502920" cy="502920"/>
          </a:xfrm>
          <a:prstGeom prst="ellipse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1733741" name="TextBox 17"/>
          <p:cNvSpPr txBox="1"/>
          <p:nvPr/>
        </p:nvSpPr>
        <p:spPr bwMode="auto">
          <a:xfrm>
            <a:off x="3712463" y="2478024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  <a:endParaRPr/>
          </a:p>
        </p:txBody>
      </p:sp>
      <p:sp>
        <p:nvSpPr>
          <p:cNvPr id="641746558" name="TextBox 18"/>
          <p:cNvSpPr txBox="1"/>
          <p:nvPr/>
        </p:nvSpPr>
        <p:spPr bwMode="auto">
          <a:xfrm>
            <a:off x="3218688" y="3090672"/>
            <a:ext cx="15361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Validate</a:t>
            </a:r>
            <a:endParaRPr/>
          </a:p>
        </p:txBody>
      </p:sp>
      <p:sp>
        <p:nvSpPr>
          <p:cNvPr id="1637241079" name="TextBox 19"/>
          <p:cNvSpPr txBox="1"/>
          <p:nvPr/>
        </p:nvSpPr>
        <p:spPr bwMode="auto">
          <a:xfrm>
            <a:off x="3209544" y="3500711"/>
            <a:ext cx="15544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Validate OHLC relationships &amp; filter anomalies</a:t>
            </a:r>
            <a:endParaRPr/>
          </a:p>
        </p:txBody>
      </p:sp>
      <p:cxnSp>
        <p:nvCxnSpPr>
          <p:cNvPr id="1408254622" name="Connector 20"/>
          <p:cNvCxnSpPr/>
          <p:nvPr/>
        </p:nvCxnSpPr>
        <p:spPr bwMode="auto">
          <a:xfrm>
            <a:off x="4974336" y="2834640"/>
            <a:ext cx="228600" cy="0"/>
          </a:xfrm>
          <a:prstGeom prst="line">
            <a:avLst/>
          </a:prstGeom>
          <a:ln w="2159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6582684" name="Rounded Rectangle 21"/>
          <p:cNvSpPr/>
          <p:nvPr/>
        </p:nvSpPr>
        <p:spPr bwMode="auto">
          <a:xfrm>
            <a:off x="5303520" y="2231136"/>
            <a:ext cx="1856231" cy="12070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6539963" name="Oval 22"/>
          <p:cNvSpPr/>
          <p:nvPr/>
        </p:nvSpPr>
        <p:spPr bwMode="auto">
          <a:xfrm>
            <a:off x="5961888" y="2468880"/>
            <a:ext cx="502920" cy="502920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8270768" name="TextBox 23"/>
          <p:cNvSpPr txBox="1"/>
          <p:nvPr/>
        </p:nvSpPr>
        <p:spPr bwMode="auto">
          <a:xfrm>
            <a:off x="5961888" y="2478024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  <a:endParaRPr/>
          </a:p>
        </p:txBody>
      </p:sp>
      <p:sp>
        <p:nvSpPr>
          <p:cNvPr id="907976780" name="TextBox 24"/>
          <p:cNvSpPr txBox="1"/>
          <p:nvPr/>
        </p:nvSpPr>
        <p:spPr bwMode="auto">
          <a:xfrm>
            <a:off x="5468112" y="3090672"/>
            <a:ext cx="15361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Transform</a:t>
            </a:r>
            <a:endParaRPr/>
          </a:p>
        </p:txBody>
      </p:sp>
      <p:sp>
        <p:nvSpPr>
          <p:cNvPr id="2144380254" name="TextBox 25"/>
          <p:cNvSpPr txBox="1"/>
          <p:nvPr/>
        </p:nvSpPr>
        <p:spPr bwMode="auto">
          <a:xfrm>
            <a:off x="5458968" y="3500711"/>
            <a:ext cx="15544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900" b="0" i="0">
                <a:solidFill>
                  <a:srgbClr val="586A7E"/>
                </a:solidFill>
                <a:latin typeface="Aptos"/>
              </a:rPr>
              <a:t>Derive features and standardize fields</a:t>
            </a:r>
            <a:endParaRPr/>
          </a:p>
        </p:txBody>
      </p:sp>
      <p:cxnSp>
        <p:nvCxnSpPr>
          <p:cNvPr id="2020618485" name="Connector 26"/>
          <p:cNvCxnSpPr/>
          <p:nvPr/>
        </p:nvCxnSpPr>
        <p:spPr bwMode="auto">
          <a:xfrm>
            <a:off x="7223760" y="2834640"/>
            <a:ext cx="228600" cy="0"/>
          </a:xfrm>
          <a:prstGeom prst="line">
            <a:avLst/>
          </a:prstGeom>
          <a:ln w="2159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690938" name="Rounded Rectangle 27"/>
          <p:cNvSpPr/>
          <p:nvPr/>
        </p:nvSpPr>
        <p:spPr bwMode="auto">
          <a:xfrm>
            <a:off x="7552944" y="2231136"/>
            <a:ext cx="1856231" cy="12070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3377387" name="Oval 28"/>
          <p:cNvSpPr/>
          <p:nvPr/>
        </p:nvSpPr>
        <p:spPr bwMode="auto">
          <a:xfrm>
            <a:off x="8211312" y="2468880"/>
            <a:ext cx="502920" cy="502920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0543822" name="TextBox 29"/>
          <p:cNvSpPr txBox="1"/>
          <p:nvPr/>
        </p:nvSpPr>
        <p:spPr bwMode="auto">
          <a:xfrm>
            <a:off x="8211312" y="2478024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  <a:endParaRPr/>
          </a:p>
        </p:txBody>
      </p:sp>
      <p:sp>
        <p:nvSpPr>
          <p:cNvPr id="869559545" name="TextBox 30"/>
          <p:cNvSpPr txBox="1"/>
          <p:nvPr/>
        </p:nvSpPr>
        <p:spPr bwMode="auto">
          <a:xfrm>
            <a:off x="7717536" y="3090672"/>
            <a:ext cx="15361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Aggregate</a:t>
            </a:r>
            <a:endParaRPr/>
          </a:p>
        </p:txBody>
      </p:sp>
      <p:sp>
        <p:nvSpPr>
          <p:cNvPr id="1211809784" name="TextBox 31"/>
          <p:cNvSpPr txBox="1"/>
          <p:nvPr/>
        </p:nvSpPr>
        <p:spPr bwMode="auto">
          <a:xfrm>
            <a:off x="7708392" y="3500711"/>
            <a:ext cx="15544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900" b="0" i="0">
                <a:solidFill>
                  <a:srgbClr val="586A7E"/>
                </a:solidFill>
                <a:latin typeface="Aptos"/>
              </a:rPr>
              <a:t>Produce analytics-ready summaries</a:t>
            </a:r>
            <a:endParaRPr/>
          </a:p>
        </p:txBody>
      </p:sp>
      <p:cxnSp>
        <p:nvCxnSpPr>
          <p:cNvPr id="121430256" name="Connector 32"/>
          <p:cNvCxnSpPr/>
          <p:nvPr/>
        </p:nvCxnSpPr>
        <p:spPr bwMode="auto">
          <a:xfrm>
            <a:off x="9473184" y="2834640"/>
            <a:ext cx="228600" cy="0"/>
          </a:xfrm>
          <a:prstGeom prst="line">
            <a:avLst/>
          </a:prstGeom>
          <a:ln w="2159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454989" name="Rounded Rectangle 33"/>
          <p:cNvSpPr/>
          <p:nvPr/>
        </p:nvSpPr>
        <p:spPr bwMode="auto">
          <a:xfrm>
            <a:off x="9802368" y="2231136"/>
            <a:ext cx="1856231" cy="12070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6754284" name="Oval 34"/>
          <p:cNvSpPr/>
          <p:nvPr/>
        </p:nvSpPr>
        <p:spPr bwMode="auto">
          <a:xfrm>
            <a:off x="10460736" y="2468880"/>
            <a:ext cx="502920" cy="502920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113981" name="TextBox 35"/>
          <p:cNvSpPr txBox="1"/>
          <p:nvPr/>
        </p:nvSpPr>
        <p:spPr bwMode="auto">
          <a:xfrm>
            <a:off x="10460736" y="2478024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  <a:endParaRPr/>
          </a:p>
        </p:txBody>
      </p:sp>
      <p:sp>
        <p:nvSpPr>
          <p:cNvPr id="215945984" name="TextBox 36"/>
          <p:cNvSpPr txBox="1"/>
          <p:nvPr/>
        </p:nvSpPr>
        <p:spPr bwMode="auto">
          <a:xfrm>
            <a:off x="9966960" y="3090672"/>
            <a:ext cx="153619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Write</a:t>
            </a:r>
            <a:endParaRPr/>
          </a:p>
        </p:txBody>
      </p:sp>
      <p:sp>
        <p:nvSpPr>
          <p:cNvPr id="425303913" name="TextBox 37"/>
          <p:cNvSpPr txBox="1"/>
          <p:nvPr/>
        </p:nvSpPr>
        <p:spPr bwMode="auto">
          <a:xfrm>
            <a:off x="9957816" y="3500711"/>
            <a:ext cx="15544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Write 25 Silver Parquets + 25,500 Postgres rows</a:t>
            </a:r>
            <a:endParaRPr/>
          </a:p>
        </p:txBody>
      </p:sp>
      <p:sp>
        <p:nvSpPr>
          <p:cNvPr id="911460122" name="Rounded Rectangle 38"/>
          <p:cNvSpPr/>
          <p:nvPr/>
        </p:nvSpPr>
        <p:spPr bwMode="auto">
          <a:xfrm>
            <a:off x="914400" y="4773168"/>
            <a:ext cx="10332720" cy="804672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385070" name="TextBox 39"/>
          <p:cNvSpPr txBox="1"/>
          <p:nvPr/>
        </p:nvSpPr>
        <p:spPr bwMode="auto">
          <a:xfrm>
            <a:off x="1143000" y="5020056"/>
            <a:ext cx="9875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500" b="1" i="0">
                <a:solidFill>
                  <a:srgbClr val="FFFFFF"/>
                </a:solidFill>
                <a:latin typeface="Aptos"/>
              </a:rPr>
              <a:t>Batch processing answers: “What can we compute from the complete history?”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95350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5932413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03 / PROCESSING</a:t>
            </a:r>
            <a:endParaRPr/>
          </a:p>
        </p:txBody>
      </p:sp>
      <p:sp>
        <p:nvSpPr>
          <p:cNvPr id="659232869" name="TextBox 3"/>
          <p:cNvSpPr txBox="1"/>
          <p:nvPr/>
        </p:nvSpPr>
        <p:spPr bwMode="auto">
          <a:xfrm>
            <a:off x="530352" y="594360"/>
            <a:ext cx="106070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Data validation &amp; cleaning</a:t>
            </a:r>
            <a:endParaRPr/>
          </a:p>
        </p:txBody>
      </p:sp>
      <p:sp>
        <p:nvSpPr>
          <p:cNvPr id="321157951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12</a:t>
            </a:r>
            <a:endParaRPr/>
          </a:p>
        </p:txBody>
      </p:sp>
      <p:cxnSp>
        <p:nvCxnSpPr>
          <p:cNvPr id="2121527126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5021693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227615327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562049537" name="TextBox 8"/>
          <p:cNvSpPr txBox="1"/>
          <p:nvPr/>
        </p:nvSpPr>
        <p:spPr bwMode="auto">
          <a:xfrm>
            <a:off x="566928" y="1298448"/>
            <a:ext cx="7772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Quality rules prevent invalid records from reaching the trusted layers.</a:t>
            </a:r>
            <a:endParaRPr/>
          </a:p>
        </p:txBody>
      </p:sp>
      <p:sp>
        <p:nvSpPr>
          <p:cNvPr id="957525475" name="Rounded Rectangle 9"/>
          <p:cNvSpPr/>
          <p:nvPr/>
        </p:nvSpPr>
        <p:spPr bwMode="auto">
          <a:xfrm>
            <a:off x="713232" y="1847088"/>
            <a:ext cx="3328416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1257175" name="Rectangle 10"/>
          <p:cNvSpPr/>
          <p:nvPr/>
        </p:nvSpPr>
        <p:spPr bwMode="auto">
          <a:xfrm>
            <a:off x="713232" y="1847088"/>
            <a:ext cx="54864" cy="1417320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346549" name="TextBox 11"/>
          <p:cNvSpPr txBox="1"/>
          <p:nvPr/>
        </p:nvSpPr>
        <p:spPr bwMode="auto">
          <a:xfrm>
            <a:off x="877824" y="1993392"/>
            <a:ext cx="30540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Schema checks</a:t>
            </a:r>
            <a:endParaRPr/>
          </a:p>
        </p:txBody>
      </p:sp>
      <p:sp>
        <p:nvSpPr>
          <p:cNvPr id="970319892" name="TextBox 12"/>
          <p:cNvSpPr txBox="1"/>
          <p:nvPr/>
        </p:nvSpPr>
        <p:spPr bwMode="auto">
          <a:xfrm>
            <a:off x="877824" y="2377440"/>
            <a:ext cx="3035808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00" b="0" i="0">
                <a:solidFill>
                  <a:srgbClr val="586A7E"/>
                </a:solidFill>
                <a:latin typeface="Aptos"/>
              </a:rPr>
              <a:t>Ticker and date are present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Expected columns and types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No unexpected structure</a:t>
            </a:r>
            <a:endParaRPr/>
          </a:p>
        </p:txBody>
      </p:sp>
      <p:sp>
        <p:nvSpPr>
          <p:cNvPr id="598408007" name="Rounded Rectangle 13"/>
          <p:cNvSpPr/>
          <p:nvPr/>
        </p:nvSpPr>
        <p:spPr bwMode="auto">
          <a:xfrm>
            <a:off x="713232" y="3547872"/>
            <a:ext cx="3328416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2074738" name="Rectangle 14"/>
          <p:cNvSpPr/>
          <p:nvPr/>
        </p:nvSpPr>
        <p:spPr bwMode="auto">
          <a:xfrm>
            <a:off x="713232" y="3547872"/>
            <a:ext cx="54864" cy="1417320"/>
          </a:xfrm>
          <a:prstGeom prst="rect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9752086" name="TextBox 15"/>
          <p:cNvSpPr txBox="1"/>
          <p:nvPr/>
        </p:nvSpPr>
        <p:spPr bwMode="auto">
          <a:xfrm>
            <a:off x="877824" y="3694176"/>
            <a:ext cx="30540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Value checks</a:t>
            </a:r>
            <a:endParaRPr/>
          </a:p>
        </p:txBody>
      </p:sp>
      <p:sp>
        <p:nvSpPr>
          <p:cNvPr id="1912116577" name="TextBox 16"/>
          <p:cNvSpPr txBox="1"/>
          <p:nvPr/>
        </p:nvSpPr>
        <p:spPr bwMode="auto">
          <a:xfrm>
            <a:off x="877824" y="4078224"/>
            <a:ext cx="3035808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00" b="0" i="0">
                <a:solidFill>
                  <a:srgbClr val="586A7E"/>
                </a:solidFill>
                <a:latin typeface="Aptos"/>
              </a:rPr>
              <a:t>Prices and volume are positive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Numeric values are parseable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Duplicates are controlled</a:t>
            </a:r>
            <a:endParaRPr/>
          </a:p>
        </p:txBody>
      </p:sp>
      <p:sp>
        <p:nvSpPr>
          <p:cNvPr id="2064280118" name="Rounded Rectangle 17"/>
          <p:cNvSpPr/>
          <p:nvPr/>
        </p:nvSpPr>
        <p:spPr bwMode="auto">
          <a:xfrm>
            <a:off x="4434840" y="1847088"/>
            <a:ext cx="3328416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8856905" name="Rectangle 18"/>
          <p:cNvSpPr/>
          <p:nvPr/>
        </p:nvSpPr>
        <p:spPr bwMode="auto">
          <a:xfrm>
            <a:off x="4434840" y="1847088"/>
            <a:ext cx="54864" cy="1417320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6289957" name="TextBox 19"/>
          <p:cNvSpPr txBox="1"/>
          <p:nvPr/>
        </p:nvSpPr>
        <p:spPr bwMode="auto">
          <a:xfrm>
            <a:off x="4599431" y="1993392"/>
            <a:ext cx="30540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OHLC consistency</a:t>
            </a:r>
            <a:endParaRPr/>
          </a:p>
        </p:txBody>
      </p:sp>
      <p:sp>
        <p:nvSpPr>
          <p:cNvPr id="976344356" name="TextBox 20"/>
          <p:cNvSpPr txBox="1"/>
          <p:nvPr/>
        </p:nvSpPr>
        <p:spPr bwMode="auto">
          <a:xfrm>
            <a:off x="4599431" y="2377440"/>
            <a:ext cx="3035808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00" b="0" i="0">
                <a:solidFill>
                  <a:srgbClr val="586A7E"/>
                </a:solidFill>
                <a:latin typeface="Aptos"/>
              </a:rPr>
              <a:t>High ≥ Low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High ≥ Open and Close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Low ≤ Open and Close</a:t>
            </a:r>
            <a:endParaRPr/>
          </a:p>
        </p:txBody>
      </p:sp>
      <p:sp>
        <p:nvSpPr>
          <p:cNvPr id="1131115213" name="Rounded Rectangle 21"/>
          <p:cNvSpPr/>
          <p:nvPr/>
        </p:nvSpPr>
        <p:spPr bwMode="auto">
          <a:xfrm>
            <a:off x="4434840" y="3547872"/>
            <a:ext cx="3328416" cy="1417320"/>
          </a:xfrm>
          <a:prstGeom prst="roundRect">
            <a:avLst>
              <a:gd name="adj" fmla="val 16667"/>
            </a:avLst>
          </a:prstGeom>
          <a:solidFill>
            <a:srgbClr val="FB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164937" name="Rectangle 22"/>
          <p:cNvSpPr/>
          <p:nvPr/>
        </p:nvSpPr>
        <p:spPr bwMode="auto">
          <a:xfrm>
            <a:off x="4434840" y="3547872"/>
            <a:ext cx="54864" cy="1417320"/>
          </a:xfrm>
          <a:prstGeom prst="rect">
            <a:avLst/>
          </a:prstGeom>
          <a:solidFill>
            <a:srgbClr val="D35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3663754" name="TextBox 23"/>
          <p:cNvSpPr txBox="1"/>
          <p:nvPr/>
        </p:nvSpPr>
        <p:spPr bwMode="auto">
          <a:xfrm>
            <a:off x="4599431" y="3694176"/>
            <a:ext cx="30540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Invalid records</a:t>
            </a:r>
            <a:endParaRPr/>
          </a:p>
        </p:txBody>
      </p:sp>
      <p:sp>
        <p:nvSpPr>
          <p:cNvPr id="830292821" name="TextBox 24"/>
          <p:cNvSpPr txBox="1"/>
          <p:nvPr/>
        </p:nvSpPr>
        <p:spPr bwMode="auto">
          <a:xfrm>
            <a:off x="4599431" y="4078224"/>
            <a:ext cx="3035808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00" b="0" i="0">
                <a:solidFill>
                  <a:srgbClr val="586A7E"/>
                </a:solidFill>
                <a:latin typeface="Aptos"/>
              </a:rPr>
              <a:t>Flag and separate bad rows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Do not silently discard</a:t>
            </a:r>
            <a:br>
              <a:rPr sz="1100" b="0" i="0">
                <a:solidFill>
                  <a:srgbClr val="586A7E"/>
                </a:solidFill>
                <a:latin typeface="Aptos"/>
              </a:rPr>
            </a:br>
            <a:r>
              <a:rPr sz="1100" b="0" i="0">
                <a:solidFill>
                  <a:srgbClr val="586A7E"/>
                </a:solidFill>
                <a:latin typeface="Aptos"/>
              </a:rPr>
              <a:t>Track quality outcomes</a:t>
            </a:r>
            <a:endParaRPr/>
          </a:p>
        </p:txBody>
      </p:sp>
      <p:sp>
        <p:nvSpPr>
          <p:cNvPr id="396944198" name="Rounded Rectangle 25"/>
          <p:cNvSpPr/>
          <p:nvPr/>
        </p:nvSpPr>
        <p:spPr bwMode="auto">
          <a:xfrm>
            <a:off x="8229600" y="1847088"/>
            <a:ext cx="3246120" cy="3118104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8092244" name="TextBox 26"/>
          <p:cNvSpPr txBox="1"/>
          <p:nvPr/>
        </p:nvSpPr>
        <p:spPr bwMode="auto">
          <a:xfrm>
            <a:off x="8549640" y="2148840"/>
            <a:ext cx="2606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0AEBE"/>
                </a:solidFill>
                <a:latin typeface="Aptos"/>
              </a:rPr>
              <a:t>QUALITY GATE</a:t>
            </a:r>
            <a:endParaRPr/>
          </a:p>
        </p:txBody>
      </p:sp>
      <p:sp>
        <p:nvSpPr>
          <p:cNvPr id="131863098" name="Oval 27"/>
          <p:cNvSpPr/>
          <p:nvPr/>
        </p:nvSpPr>
        <p:spPr bwMode="auto">
          <a:xfrm>
            <a:off x="9464040" y="2633472"/>
            <a:ext cx="804672" cy="804672"/>
          </a:xfrm>
          <a:prstGeom prst="ellipse">
            <a:avLst/>
          </a:prstGeom>
          <a:solidFill>
            <a:srgbClr val="35A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8457414" name="TextBox 28"/>
          <p:cNvSpPr txBox="1"/>
          <p:nvPr/>
        </p:nvSpPr>
        <p:spPr bwMode="auto">
          <a:xfrm>
            <a:off x="9464040" y="2642615"/>
            <a:ext cx="804672" cy="7955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0">
                <a:solidFill>
                  <a:srgbClr val="FFFFFF"/>
                </a:solidFill>
                <a:latin typeface="Aptos"/>
              </a:rPr>
              <a:t>✓</a:t>
            </a:r>
            <a:endParaRPr/>
          </a:p>
        </p:txBody>
      </p:sp>
      <p:sp>
        <p:nvSpPr>
          <p:cNvPr id="1067207142" name="TextBox 29"/>
          <p:cNvSpPr txBox="1"/>
          <p:nvPr/>
        </p:nvSpPr>
        <p:spPr bwMode="auto">
          <a:xfrm>
            <a:off x="8641080" y="3639312"/>
            <a:ext cx="24231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0">
                <a:solidFill>
                  <a:srgbClr val="FFFFFF"/>
                </a:solidFill>
                <a:latin typeface="Aptos"/>
              </a:rPr>
              <a:t>Only validated data</a:t>
            </a:r>
            <a:br>
              <a:rPr sz="1600" b="1" i="0">
                <a:solidFill>
                  <a:srgbClr val="FFFFFF"/>
                </a:solidFill>
                <a:latin typeface="Aptos"/>
              </a:rPr>
            </a:br>
            <a:r>
              <a:rPr sz="1600" b="1" i="0">
                <a:solidFill>
                  <a:srgbClr val="FFFFFF"/>
                </a:solidFill>
                <a:latin typeface="Aptos"/>
              </a:rPr>
              <a:t>moves forward</a:t>
            </a:r>
            <a:endParaRPr/>
          </a:p>
        </p:txBody>
      </p:sp>
      <p:sp>
        <p:nvSpPr>
          <p:cNvPr id="1964330317" name="TextBox 30"/>
          <p:cNvSpPr txBox="1"/>
          <p:nvPr/>
        </p:nvSpPr>
        <p:spPr bwMode="auto">
          <a:xfrm>
            <a:off x="8668512" y="4434840"/>
            <a:ext cx="2377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0" i="0">
                <a:solidFill>
                  <a:srgbClr val="BBD1E2"/>
                </a:solidFill>
                <a:latin typeface="Aptos"/>
              </a:rPr>
              <a:t>Silver = trusted 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281382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3383349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03 / PROCESSING</a:t>
            </a:r>
            <a:endParaRPr/>
          </a:p>
        </p:txBody>
      </p:sp>
      <p:sp>
        <p:nvSpPr>
          <p:cNvPr id="981494012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Feature Engineering</a:t>
            </a:r>
            <a:endParaRPr/>
          </a:p>
        </p:txBody>
      </p:sp>
      <p:sp>
        <p:nvSpPr>
          <p:cNvPr id="1703079884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13</a:t>
            </a:r>
            <a:endParaRPr/>
          </a:p>
        </p:txBody>
      </p:sp>
      <p:cxnSp>
        <p:nvCxnSpPr>
          <p:cNvPr id="2107776172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057729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43538398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036667842" name="TextBox 8"/>
          <p:cNvSpPr txBox="1"/>
          <p:nvPr/>
        </p:nvSpPr>
        <p:spPr bwMode="auto">
          <a:xfrm>
            <a:off x="566928" y="1298448"/>
            <a:ext cx="8778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Spark turns validated OHLCV records into features that are easier to analyze.</a:t>
            </a:r>
            <a:endParaRPr/>
          </a:p>
        </p:txBody>
      </p:sp>
      <p:sp>
        <p:nvSpPr>
          <p:cNvPr id="1566700947" name="Rounded Rectangle 9"/>
          <p:cNvSpPr/>
          <p:nvPr/>
        </p:nvSpPr>
        <p:spPr bwMode="auto">
          <a:xfrm>
            <a:off x="713232" y="1938528"/>
            <a:ext cx="3246120" cy="1143000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9040655" name="Rectangle 10"/>
          <p:cNvSpPr/>
          <p:nvPr/>
        </p:nvSpPr>
        <p:spPr bwMode="auto">
          <a:xfrm>
            <a:off x="713232" y="1938528"/>
            <a:ext cx="64008" cy="1143000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3390609" name="TextBox 11"/>
          <p:cNvSpPr txBox="1"/>
          <p:nvPr/>
        </p:nvSpPr>
        <p:spPr bwMode="auto">
          <a:xfrm>
            <a:off x="923544" y="210312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17273A"/>
                </a:solidFill>
                <a:latin typeface="Aptos"/>
              </a:rPr>
              <a:t>Price change</a:t>
            </a:r>
            <a:endParaRPr/>
          </a:p>
        </p:txBody>
      </p:sp>
      <p:sp>
        <p:nvSpPr>
          <p:cNvPr id="921776880" name="TextBox 12"/>
          <p:cNvSpPr txBox="1"/>
          <p:nvPr/>
        </p:nvSpPr>
        <p:spPr bwMode="auto">
          <a:xfrm>
            <a:off x="923544" y="2414016"/>
            <a:ext cx="2880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984BE"/>
                </a:solidFill>
                <a:latin typeface="Aptos"/>
              </a:rPr>
              <a:t>Close − Open</a:t>
            </a:r>
            <a:endParaRPr/>
          </a:p>
        </p:txBody>
      </p:sp>
      <p:sp>
        <p:nvSpPr>
          <p:cNvPr id="444923610" name="TextBox 13"/>
          <p:cNvSpPr txBox="1"/>
          <p:nvPr/>
        </p:nvSpPr>
        <p:spPr bwMode="auto">
          <a:xfrm>
            <a:off x="923544" y="2743200"/>
            <a:ext cx="2880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 i="0">
                <a:solidFill>
                  <a:srgbClr val="586A7E"/>
                </a:solidFill>
                <a:latin typeface="Aptos"/>
              </a:rPr>
              <a:t>absolute daily movement</a:t>
            </a:r>
            <a:endParaRPr/>
          </a:p>
        </p:txBody>
      </p:sp>
      <p:sp>
        <p:nvSpPr>
          <p:cNvPr id="860787777" name="Rounded Rectangle 14"/>
          <p:cNvSpPr/>
          <p:nvPr/>
        </p:nvSpPr>
        <p:spPr bwMode="auto">
          <a:xfrm>
            <a:off x="4443984" y="1938528"/>
            <a:ext cx="324612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8741798" name="Rectangle 15"/>
          <p:cNvSpPr/>
          <p:nvPr/>
        </p:nvSpPr>
        <p:spPr bwMode="auto">
          <a:xfrm>
            <a:off x="4443984" y="1938528"/>
            <a:ext cx="64008" cy="1143000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144779" name="TextBox 16"/>
          <p:cNvSpPr txBox="1"/>
          <p:nvPr/>
        </p:nvSpPr>
        <p:spPr bwMode="auto">
          <a:xfrm>
            <a:off x="4654296" y="210312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17273A"/>
                </a:solidFill>
                <a:latin typeface="Aptos"/>
              </a:rPr>
              <a:t>Price change %</a:t>
            </a:r>
            <a:endParaRPr/>
          </a:p>
        </p:txBody>
      </p:sp>
      <p:sp>
        <p:nvSpPr>
          <p:cNvPr id="364666019" name="TextBox 17"/>
          <p:cNvSpPr txBox="1"/>
          <p:nvPr/>
        </p:nvSpPr>
        <p:spPr bwMode="auto">
          <a:xfrm>
            <a:off x="4654296" y="2414016"/>
            <a:ext cx="2880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00AEBE"/>
                </a:solidFill>
                <a:latin typeface="Aptos"/>
              </a:rPr>
              <a:t>(Close − Open) / Open</a:t>
            </a:r>
            <a:endParaRPr/>
          </a:p>
        </p:txBody>
      </p:sp>
      <p:sp>
        <p:nvSpPr>
          <p:cNvPr id="1794786684" name="TextBox 18"/>
          <p:cNvSpPr txBox="1"/>
          <p:nvPr/>
        </p:nvSpPr>
        <p:spPr bwMode="auto">
          <a:xfrm>
            <a:off x="4654296" y="2743200"/>
            <a:ext cx="2880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 i="0">
                <a:solidFill>
                  <a:srgbClr val="586A7E"/>
                </a:solidFill>
                <a:latin typeface="Aptos"/>
              </a:rPr>
              <a:t>relative daily movement</a:t>
            </a:r>
            <a:endParaRPr/>
          </a:p>
        </p:txBody>
      </p:sp>
      <p:sp>
        <p:nvSpPr>
          <p:cNvPr id="2137225311" name="Rounded Rectangle 19"/>
          <p:cNvSpPr/>
          <p:nvPr/>
        </p:nvSpPr>
        <p:spPr bwMode="auto">
          <a:xfrm>
            <a:off x="8174736" y="1938528"/>
            <a:ext cx="324612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6923552" name="Rectangle 20"/>
          <p:cNvSpPr/>
          <p:nvPr/>
        </p:nvSpPr>
        <p:spPr bwMode="auto">
          <a:xfrm>
            <a:off x="8174736" y="1938528"/>
            <a:ext cx="64008" cy="1143000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2644372" name="TextBox 21"/>
          <p:cNvSpPr txBox="1"/>
          <p:nvPr/>
        </p:nvSpPr>
        <p:spPr bwMode="auto">
          <a:xfrm>
            <a:off x="8385048" y="210312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17273A"/>
                </a:solidFill>
                <a:latin typeface="Aptos"/>
              </a:rPr>
              <a:t>Intraday range</a:t>
            </a:r>
            <a:endParaRPr/>
          </a:p>
        </p:txBody>
      </p:sp>
      <p:sp>
        <p:nvSpPr>
          <p:cNvPr id="541993342" name="TextBox 22"/>
          <p:cNvSpPr txBox="1"/>
          <p:nvPr/>
        </p:nvSpPr>
        <p:spPr bwMode="auto">
          <a:xfrm>
            <a:off x="8385048" y="2414016"/>
            <a:ext cx="2880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7256CF"/>
                </a:solidFill>
                <a:latin typeface="Aptos"/>
              </a:rPr>
              <a:t>High − Low</a:t>
            </a:r>
            <a:endParaRPr/>
          </a:p>
        </p:txBody>
      </p:sp>
      <p:sp>
        <p:nvSpPr>
          <p:cNvPr id="1591113723" name="TextBox 23"/>
          <p:cNvSpPr txBox="1"/>
          <p:nvPr/>
        </p:nvSpPr>
        <p:spPr bwMode="auto">
          <a:xfrm>
            <a:off x="8385048" y="2743200"/>
            <a:ext cx="2880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 i="0">
                <a:solidFill>
                  <a:srgbClr val="586A7E"/>
                </a:solidFill>
                <a:latin typeface="Aptos"/>
              </a:rPr>
              <a:t>daily price spread</a:t>
            </a:r>
            <a:endParaRPr/>
          </a:p>
        </p:txBody>
      </p:sp>
      <p:sp>
        <p:nvSpPr>
          <p:cNvPr id="764972639" name="Rounded Rectangle 24"/>
          <p:cNvSpPr/>
          <p:nvPr/>
        </p:nvSpPr>
        <p:spPr bwMode="auto">
          <a:xfrm>
            <a:off x="713232" y="3493008"/>
            <a:ext cx="324612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634066" name="Rectangle 25"/>
          <p:cNvSpPr/>
          <p:nvPr/>
        </p:nvSpPr>
        <p:spPr bwMode="auto">
          <a:xfrm>
            <a:off x="713232" y="3493008"/>
            <a:ext cx="64008" cy="1143000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1727317" name="TextBox 26"/>
          <p:cNvSpPr txBox="1"/>
          <p:nvPr/>
        </p:nvSpPr>
        <p:spPr bwMode="auto">
          <a:xfrm>
            <a:off x="923544" y="365760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17273A"/>
                </a:solidFill>
                <a:latin typeface="Aptos"/>
              </a:rPr>
              <a:t>Typical price</a:t>
            </a:r>
            <a:endParaRPr/>
          </a:p>
        </p:txBody>
      </p:sp>
      <p:sp>
        <p:nvSpPr>
          <p:cNvPr id="6740453" name="TextBox 27"/>
          <p:cNvSpPr txBox="1"/>
          <p:nvPr/>
        </p:nvSpPr>
        <p:spPr bwMode="auto">
          <a:xfrm>
            <a:off x="923544" y="3968496"/>
            <a:ext cx="2880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23AA96"/>
                </a:solidFill>
                <a:latin typeface="Aptos"/>
              </a:rPr>
              <a:t>(High + Low + Close) / 3</a:t>
            </a:r>
            <a:endParaRPr/>
          </a:p>
        </p:txBody>
      </p:sp>
      <p:sp>
        <p:nvSpPr>
          <p:cNvPr id="84848387" name="TextBox 28"/>
          <p:cNvSpPr txBox="1"/>
          <p:nvPr/>
        </p:nvSpPr>
        <p:spPr bwMode="auto">
          <a:xfrm>
            <a:off x="923544" y="4297680"/>
            <a:ext cx="2880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 i="0">
                <a:solidFill>
                  <a:srgbClr val="586A7E"/>
                </a:solidFill>
                <a:latin typeface="Aptos"/>
              </a:rPr>
              <a:t>representative price</a:t>
            </a:r>
            <a:endParaRPr/>
          </a:p>
        </p:txBody>
      </p:sp>
      <p:sp>
        <p:nvSpPr>
          <p:cNvPr id="2004864235" name="Rounded Rectangle 29"/>
          <p:cNvSpPr/>
          <p:nvPr/>
        </p:nvSpPr>
        <p:spPr bwMode="auto">
          <a:xfrm>
            <a:off x="4443984" y="3493008"/>
            <a:ext cx="324612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814894" name="Rectangle 30"/>
          <p:cNvSpPr/>
          <p:nvPr/>
        </p:nvSpPr>
        <p:spPr bwMode="auto">
          <a:xfrm>
            <a:off x="4443984" y="3493008"/>
            <a:ext cx="64008" cy="1143000"/>
          </a:xfrm>
          <a:prstGeom prst="rect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3658071" name="TextBox 31"/>
          <p:cNvSpPr txBox="1"/>
          <p:nvPr/>
        </p:nvSpPr>
        <p:spPr bwMode="auto">
          <a:xfrm>
            <a:off x="4654296" y="3657600"/>
            <a:ext cx="2880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17273A"/>
                </a:solidFill>
                <a:latin typeface="Aptos"/>
              </a:rPr>
              <a:t>Dollar volume</a:t>
            </a:r>
            <a:endParaRPr/>
          </a:p>
        </p:txBody>
      </p:sp>
      <p:sp>
        <p:nvSpPr>
          <p:cNvPr id="1618358804" name="TextBox 32"/>
          <p:cNvSpPr txBox="1"/>
          <p:nvPr/>
        </p:nvSpPr>
        <p:spPr bwMode="auto">
          <a:xfrm>
            <a:off x="4654296" y="3968496"/>
            <a:ext cx="2880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EF9F40"/>
                </a:solidFill>
                <a:latin typeface="Aptos"/>
              </a:rPr>
              <a:t>Close × Volume</a:t>
            </a:r>
            <a:endParaRPr/>
          </a:p>
        </p:txBody>
      </p:sp>
      <p:sp>
        <p:nvSpPr>
          <p:cNvPr id="1259072401" name="TextBox 33"/>
          <p:cNvSpPr txBox="1"/>
          <p:nvPr/>
        </p:nvSpPr>
        <p:spPr bwMode="auto">
          <a:xfrm>
            <a:off x="4654296" y="4297680"/>
            <a:ext cx="2880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 i="0">
                <a:solidFill>
                  <a:srgbClr val="586A7E"/>
                </a:solidFill>
                <a:latin typeface="Aptos"/>
              </a:rPr>
              <a:t>traded value proxy</a:t>
            </a:r>
            <a:endParaRPr/>
          </a:p>
        </p:txBody>
      </p:sp>
      <p:sp>
        <p:nvSpPr>
          <p:cNvPr id="1954902026" name="Rounded Rectangle 34"/>
          <p:cNvSpPr/>
          <p:nvPr/>
        </p:nvSpPr>
        <p:spPr bwMode="auto">
          <a:xfrm>
            <a:off x="1828800" y="5230368"/>
            <a:ext cx="8503920" cy="594360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3162595" name="TextBox 35"/>
          <p:cNvSpPr txBox="1"/>
          <p:nvPr/>
        </p:nvSpPr>
        <p:spPr bwMode="auto">
          <a:xfrm>
            <a:off x="2084831" y="5431536"/>
            <a:ext cx="799185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082448"/>
                </a:solidFill>
                <a:latin typeface="Aptos"/>
              </a:rPr>
              <a:t>Features are reused by dashboards, SQL views, clustering, and anomaly detection.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167759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6883718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03 / PROCESSING</a:t>
            </a:r>
            <a:endParaRPr/>
          </a:p>
        </p:txBody>
      </p:sp>
      <p:sp>
        <p:nvSpPr>
          <p:cNvPr id="789598459" name="TextBox 3"/>
          <p:cNvSpPr txBox="1"/>
          <p:nvPr/>
        </p:nvSpPr>
        <p:spPr bwMode="auto">
          <a:xfrm>
            <a:off x="530352" y="594360"/>
            <a:ext cx="106070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Structured Streaming</a:t>
            </a:r>
            <a:endParaRPr/>
          </a:p>
        </p:txBody>
      </p:sp>
      <p:sp>
        <p:nvSpPr>
          <p:cNvPr id="560960921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14</a:t>
            </a:r>
            <a:endParaRPr/>
          </a:p>
        </p:txBody>
      </p:sp>
      <p:cxnSp>
        <p:nvCxnSpPr>
          <p:cNvPr id="1193005704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0093750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692142399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379314123" name="TextBox 8"/>
          <p:cNvSpPr txBox="1"/>
          <p:nvPr/>
        </p:nvSpPr>
        <p:spPr bwMode="auto">
          <a:xfrm>
            <a:off x="566928" y="1298448"/>
            <a:ext cx="8595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The streaming path processes each JSON event as it arrives through Kafka.</a:t>
            </a:r>
            <a:endParaRPr/>
          </a:p>
        </p:txBody>
      </p:sp>
      <p:sp>
        <p:nvSpPr>
          <p:cNvPr id="1687818494" name="Rounded Rectangle 9"/>
          <p:cNvSpPr/>
          <p:nvPr/>
        </p:nvSpPr>
        <p:spPr bwMode="auto">
          <a:xfrm>
            <a:off x="786384" y="1938528"/>
            <a:ext cx="10561320" cy="1234440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2972344" name="Oval 10"/>
          <p:cNvSpPr/>
          <p:nvPr/>
        </p:nvSpPr>
        <p:spPr bwMode="auto">
          <a:xfrm>
            <a:off x="1078992" y="2249424"/>
            <a:ext cx="475488" cy="475488"/>
          </a:xfrm>
          <a:prstGeom prst="ellipse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9228870" name="TextBox 11"/>
          <p:cNvSpPr txBox="1"/>
          <p:nvPr/>
        </p:nvSpPr>
        <p:spPr bwMode="auto">
          <a:xfrm>
            <a:off x="1078992" y="2258568"/>
            <a:ext cx="475488" cy="4663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  <a:endParaRPr/>
          </a:p>
        </p:txBody>
      </p:sp>
      <p:sp>
        <p:nvSpPr>
          <p:cNvPr id="2001897494" name="TextBox 12"/>
          <p:cNvSpPr txBox="1"/>
          <p:nvPr/>
        </p:nvSpPr>
        <p:spPr bwMode="auto">
          <a:xfrm>
            <a:off x="1682495" y="2212848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Aptos"/>
              </a:rPr>
              <a:t>Kafka</a:t>
            </a:r>
            <a:endParaRPr/>
          </a:p>
        </p:txBody>
      </p:sp>
      <p:sp>
        <p:nvSpPr>
          <p:cNvPr id="910487852" name="TextBox 13"/>
          <p:cNvSpPr txBox="1"/>
          <p:nvPr/>
        </p:nvSpPr>
        <p:spPr bwMode="auto">
          <a:xfrm>
            <a:off x="1682495" y="2496312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 i="0">
                <a:solidFill>
                  <a:srgbClr val="BBD1E2"/>
                </a:solidFill>
                <a:latin typeface="Aptos"/>
              </a:rPr>
              <a:t>event source</a:t>
            </a:r>
            <a:endParaRPr/>
          </a:p>
        </p:txBody>
      </p:sp>
      <p:cxnSp>
        <p:nvCxnSpPr>
          <p:cNvPr id="1136313627" name="Connector 14"/>
          <p:cNvCxnSpPr/>
          <p:nvPr/>
        </p:nvCxnSpPr>
        <p:spPr bwMode="auto">
          <a:xfrm>
            <a:off x="2651760" y="2487168"/>
            <a:ext cx="283464" cy="0"/>
          </a:xfrm>
          <a:prstGeom prst="line">
            <a:avLst/>
          </a:prstGeom>
          <a:ln w="19050">
            <a:solidFill>
              <a:srgbClr val="5D8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251394" name="Oval 15"/>
          <p:cNvSpPr/>
          <p:nvPr/>
        </p:nvSpPr>
        <p:spPr bwMode="auto">
          <a:xfrm>
            <a:off x="3136391" y="2249424"/>
            <a:ext cx="475488" cy="475488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5050135" name="TextBox 16"/>
          <p:cNvSpPr txBox="1"/>
          <p:nvPr/>
        </p:nvSpPr>
        <p:spPr bwMode="auto">
          <a:xfrm>
            <a:off x="3136391" y="2258568"/>
            <a:ext cx="475488" cy="4663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  <a:endParaRPr/>
          </a:p>
        </p:txBody>
      </p:sp>
      <p:sp>
        <p:nvSpPr>
          <p:cNvPr id="583104992" name="TextBox 17"/>
          <p:cNvSpPr txBox="1"/>
          <p:nvPr/>
        </p:nvSpPr>
        <p:spPr bwMode="auto">
          <a:xfrm>
            <a:off x="3739896" y="2212848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Aptos"/>
              </a:rPr>
              <a:t>Parse</a:t>
            </a:r>
            <a:endParaRPr/>
          </a:p>
        </p:txBody>
      </p:sp>
      <p:sp>
        <p:nvSpPr>
          <p:cNvPr id="605649664" name="TextBox 18"/>
          <p:cNvSpPr txBox="1"/>
          <p:nvPr/>
        </p:nvSpPr>
        <p:spPr bwMode="auto">
          <a:xfrm>
            <a:off x="3739896" y="2496312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 i="0">
                <a:solidFill>
                  <a:srgbClr val="BBD1E2"/>
                </a:solidFill>
                <a:latin typeface="Aptos"/>
              </a:rPr>
              <a:t>JSON → schema</a:t>
            </a:r>
            <a:endParaRPr/>
          </a:p>
        </p:txBody>
      </p:sp>
      <p:cxnSp>
        <p:nvCxnSpPr>
          <p:cNvPr id="1149312381" name="Connector 19"/>
          <p:cNvCxnSpPr/>
          <p:nvPr/>
        </p:nvCxnSpPr>
        <p:spPr bwMode="auto">
          <a:xfrm>
            <a:off x="4709159" y="2487168"/>
            <a:ext cx="283464" cy="0"/>
          </a:xfrm>
          <a:prstGeom prst="line">
            <a:avLst/>
          </a:prstGeom>
          <a:ln w="19050">
            <a:solidFill>
              <a:srgbClr val="5D8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884880" name="Oval 20"/>
          <p:cNvSpPr/>
          <p:nvPr/>
        </p:nvSpPr>
        <p:spPr bwMode="auto">
          <a:xfrm>
            <a:off x="5193792" y="2249424"/>
            <a:ext cx="475488" cy="475488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3913374" name="TextBox 21"/>
          <p:cNvSpPr txBox="1"/>
          <p:nvPr/>
        </p:nvSpPr>
        <p:spPr bwMode="auto">
          <a:xfrm>
            <a:off x="5193792" y="2258568"/>
            <a:ext cx="475488" cy="4663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  <a:endParaRPr/>
          </a:p>
        </p:txBody>
      </p:sp>
      <p:sp>
        <p:nvSpPr>
          <p:cNvPr id="1888534370" name="TextBox 22"/>
          <p:cNvSpPr txBox="1"/>
          <p:nvPr/>
        </p:nvSpPr>
        <p:spPr bwMode="auto">
          <a:xfrm>
            <a:off x="5797296" y="2212848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Aptos"/>
              </a:rPr>
              <a:t>Process</a:t>
            </a:r>
            <a:endParaRPr/>
          </a:p>
        </p:txBody>
      </p:sp>
      <p:sp>
        <p:nvSpPr>
          <p:cNvPr id="1888863488" name="TextBox 23"/>
          <p:cNvSpPr txBox="1"/>
          <p:nvPr/>
        </p:nvSpPr>
        <p:spPr bwMode="auto">
          <a:xfrm>
            <a:off x="5797296" y="2496312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 i="0">
                <a:solidFill>
                  <a:srgbClr val="BBD1E2"/>
                </a:solidFill>
                <a:latin typeface="Aptos"/>
              </a:rPr>
              <a:t>validate + transform</a:t>
            </a:r>
            <a:endParaRPr/>
          </a:p>
        </p:txBody>
      </p:sp>
      <p:cxnSp>
        <p:nvCxnSpPr>
          <p:cNvPr id="1695338100" name="Connector 24"/>
          <p:cNvCxnSpPr/>
          <p:nvPr/>
        </p:nvCxnSpPr>
        <p:spPr bwMode="auto">
          <a:xfrm>
            <a:off x="6766559" y="2487168"/>
            <a:ext cx="283464" cy="0"/>
          </a:xfrm>
          <a:prstGeom prst="line">
            <a:avLst/>
          </a:prstGeom>
          <a:ln w="19050">
            <a:solidFill>
              <a:srgbClr val="5D8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960416" name="Oval 25"/>
          <p:cNvSpPr/>
          <p:nvPr/>
        </p:nvSpPr>
        <p:spPr bwMode="auto">
          <a:xfrm>
            <a:off x="7251192" y="2249424"/>
            <a:ext cx="475488" cy="475488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1617804" name="TextBox 26"/>
          <p:cNvSpPr txBox="1"/>
          <p:nvPr/>
        </p:nvSpPr>
        <p:spPr bwMode="auto">
          <a:xfrm>
            <a:off x="7251192" y="2258568"/>
            <a:ext cx="475488" cy="4663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  <a:endParaRPr/>
          </a:p>
        </p:txBody>
      </p:sp>
      <p:sp>
        <p:nvSpPr>
          <p:cNvPr id="1949165224" name="TextBox 27"/>
          <p:cNvSpPr txBox="1"/>
          <p:nvPr/>
        </p:nvSpPr>
        <p:spPr bwMode="auto">
          <a:xfrm>
            <a:off x="7854696" y="2212848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Aptos"/>
              </a:rPr>
              <a:t>Checkpoint</a:t>
            </a:r>
            <a:endParaRPr/>
          </a:p>
        </p:txBody>
      </p:sp>
      <p:sp>
        <p:nvSpPr>
          <p:cNvPr id="1831654139" name="TextBox 28"/>
          <p:cNvSpPr txBox="1"/>
          <p:nvPr/>
        </p:nvSpPr>
        <p:spPr bwMode="auto">
          <a:xfrm>
            <a:off x="7854696" y="2496312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 i="0">
                <a:solidFill>
                  <a:srgbClr val="BBD1E2"/>
                </a:solidFill>
                <a:latin typeface="Aptos"/>
              </a:rPr>
              <a:t>recover progress</a:t>
            </a:r>
            <a:endParaRPr/>
          </a:p>
        </p:txBody>
      </p:sp>
      <p:cxnSp>
        <p:nvCxnSpPr>
          <p:cNvPr id="1547266859" name="Connector 29"/>
          <p:cNvCxnSpPr/>
          <p:nvPr/>
        </p:nvCxnSpPr>
        <p:spPr bwMode="auto">
          <a:xfrm>
            <a:off x="8823960" y="2487168"/>
            <a:ext cx="283464" cy="0"/>
          </a:xfrm>
          <a:prstGeom prst="line">
            <a:avLst/>
          </a:prstGeom>
          <a:ln w="19050">
            <a:solidFill>
              <a:srgbClr val="5D8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3607693" name="Oval 30"/>
          <p:cNvSpPr/>
          <p:nvPr/>
        </p:nvSpPr>
        <p:spPr bwMode="auto">
          <a:xfrm>
            <a:off x="9308592" y="2249424"/>
            <a:ext cx="475488" cy="475488"/>
          </a:xfrm>
          <a:prstGeom prst="ellipse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2933555" name="TextBox 31"/>
          <p:cNvSpPr txBox="1"/>
          <p:nvPr/>
        </p:nvSpPr>
        <p:spPr bwMode="auto">
          <a:xfrm>
            <a:off x="9308592" y="2258568"/>
            <a:ext cx="475488" cy="4663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  <a:endParaRPr/>
          </a:p>
        </p:txBody>
      </p:sp>
      <p:sp>
        <p:nvSpPr>
          <p:cNvPr id="1937074712" name="TextBox 32"/>
          <p:cNvSpPr txBox="1"/>
          <p:nvPr/>
        </p:nvSpPr>
        <p:spPr bwMode="auto">
          <a:xfrm>
            <a:off x="9912096" y="2212848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Aptos"/>
              </a:rPr>
              <a:t>Output</a:t>
            </a:r>
            <a:endParaRPr/>
          </a:p>
        </p:txBody>
      </p:sp>
      <p:sp>
        <p:nvSpPr>
          <p:cNvPr id="231428079" name="TextBox 33"/>
          <p:cNvSpPr txBox="1"/>
          <p:nvPr/>
        </p:nvSpPr>
        <p:spPr bwMode="auto">
          <a:xfrm>
            <a:off x="9912096" y="2496312"/>
            <a:ext cx="1078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 i="0">
                <a:solidFill>
                  <a:srgbClr val="BBD1E2"/>
                </a:solidFill>
                <a:latin typeface="Aptos"/>
              </a:rPr>
              <a:t>update data lake</a:t>
            </a:r>
            <a:endParaRPr/>
          </a:p>
        </p:txBody>
      </p:sp>
      <p:sp>
        <p:nvSpPr>
          <p:cNvPr id="2003080410" name="Rounded Rectangle 34"/>
          <p:cNvSpPr/>
          <p:nvPr/>
        </p:nvSpPr>
        <p:spPr bwMode="auto">
          <a:xfrm>
            <a:off x="841248" y="3822191"/>
            <a:ext cx="3246120" cy="13533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8055113" name="Rectangle 35"/>
          <p:cNvSpPr/>
          <p:nvPr/>
        </p:nvSpPr>
        <p:spPr bwMode="auto">
          <a:xfrm>
            <a:off x="841248" y="3822191"/>
            <a:ext cx="54864" cy="1353312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5675805" name="TextBox 36"/>
          <p:cNvSpPr txBox="1"/>
          <p:nvPr/>
        </p:nvSpPr>
        <p:spPr bwMode="auto">
          <a:xfrm>
            <a:off x="1005840" y="3968496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Event time</a:t>
            </a:r>
            <a:endParaRPr/>
          </a:p>
        </p:txBody>
      </p:sp>
      <p:sp>
        <p:nvSpPr>
          <p:cNvPr id="1707393805" name="TextBox 37"/>
          <p:cNvSpPr txBox="1"/>
          <p:nvPr/>
        </p:nvSpPr>
        <p:spPr bwMode="auto">
          <a:xfrm>
            <a:off x="1005840" y="4352544"/>
            <a:ext cx="2953512" cy="7315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t>Dual-time: historical trading_date preserved; synthetic clock advances 1.0s/rec.</a:t>
            </a:r>
            <a:endParaRPr/>
          </a:p>
        </p:txBody>
      </p:sp>
      <p:sp>
        <p:nvSpPr>
          <p:cNvPr id="1337456223" name="Rounded Rectangle 38"/>
          <p:cNvSpPr/>
          <p:nvPr/>
        </p:nvSpPr>
        <p:spPr bwMode="auto">
          <a:xfrm>
            <a:off x="4462272" y="3822191"/>
            <a:ext cx="3246120" cy="13533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8643249" name="Rectangle 39"/>
          <p:cNvSpPr/>
          <p:nvPr/>
        </p:nvSpPr>
        <p:spPr bwMode="auto">
          <a:xfrm>
            <a:off x="4462272" y="3822191"/>
            <a:ext cx="54864" cy="1353312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5348516" name="TextBox 40"/>
          <p:cNvSpPr txBox="1"/>
          <p:nvPr/>
        </p:nvSpPr>
        <p:spPr bwMode="auto">
          <a:xfrm>
            <a:off x="4626864" y="3968496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Watermarking</a:t>
            </a:r>
            <a:endParaRPr/>
          </a:p>
        </p:txBody>
      </p:sp>
      <p:sp>
        <p:nvSpPr>
          <p:cNvPr id="462025990" name="TextBox 41"/>
          <p:cNvSpPr txBox="1"/>
          <p:nvPr/>
        </p:nvSpPr>
        <p:spPr bwMode="auto">
          <a:xfrm>
            <a:off x="4626864" y="4352544"/>
            <a:ext cx="2953512" cy="7315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t>10-min watermark for state cleanup; 4,335 5-minute replay simulation windows.</a:t>
            </a:r>
            <a:endParaRPr/>
          </a:p>
        </p:txBody>
      </p:sp>
      <p:sp>
        <p:nvSpPr>
          <p:cNvPr id="1402752547" name="Rounded Rectangle 42"/>
          <p:cNvSpPr/>
          <p:nvPr/>
        </p:nvSpPr>
        <p:spPr bwMode="auto">
          <a:xfrm>
            <a:off x="8083296" y="3822191"/>
            <a:ext cx="3246120" cy="1353312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885668" name="Rectangle 43"/>
          <p:cNvSpPr/>
          <p:nvPr/>
        </p:nvSpPr>
        <p:spPr bwMode="auto">
          <a:xfrm>
            <a:off x="8083296" y="3822191"/>
            <a:ext cx="54864" cy="1353312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2342835" name="TextBox 44"/>
          <p:cNvSpPr txBox="1"/>
          <p:nvPr/>
        </p:nvSpPr>
        <p:spPr bwMode="auto">
          <a:xfrm>
            <a:off x="8247888" y="3968496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Checkpointing</a:t>
            </a:r>
            <a:endParaRPr/>
          </a:p>
        </p:txBody>
      </p:sp>
      <p:sp>
        <p:nvSpPr>
          <p:cNvPr id="1273267647" name="TextBox 45"/>
          <p:cNvSpPr txBox="1"/>
          <p:nvPr/>
        </p:nvSpPr>
        <p:spPr bwMode="auto">
          <a:xfrm>
            <a:off x="8247888" y="4352544"/>
            <a:ext cx="2953512" cy="7315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t>58 MinIO checkpoints guarantee Exactly-Once semantics and zero event duplication.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242961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9348413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03 / PROCESSING</a:t>
            </a:r>
            <a:endParaRPr/>
          </a:p>
        </p:txBody>
      </p:sp>
      <p:sp>
        <p:nvSpPr>
          <p:cNvPr id="158438165" name="TextBox 3"/>
          <p:cNvSpPr txBox="1"/>
          <p:nvPr/>
        </p:nvSpPr>
        <p:spPr bwMode="auto">
          <a:xfrm>
            <a:off x="530352" y="594360"/>
            <a:ext cx="106070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From Silver to Gold</a:t>
            </a:r>
            <a:endParaRPr/>
          </a:p>
        </p:txBody>
      </p:sp>
      <p:sp>
        <p:nvSpPr>
          <p:cNvPr id="1616287818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15</a:t>
            </a:r>
            <a:endParaRPr/>
          </a:p>
        </p:txBody>
      </p:sp>
      <p:cxnSp>
        <p:nvCxnSpPr>
          <p:cNvPr id="219613503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724065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765614510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981246995" name="TextBox 8"/>
          <p:cNvSpPr txBox="1"/>
          <p:nvPr/>
        </p:nvSpPr>
        <p:spPr bwMode="auto">
          <a:xfrm>
            <a:off x="566928" y="1298448"/>
            <a:ext cx="7772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The lake layers make data quality and data readiness visible.</a:t>
            </a:r>
            <a:endParaRPr/>
          </a:p>
        </p:txBody>
      </p:sp>
      <p:sp>
        <p:nvSpPr>
          <p:cNvPr id="533432300" name="Rounded Rectangle 9"/>
          <p:cNvSpPr/>
          <p:nvPr/>
        </p:nvSpPr>
        <p:spPr bwMode="auto">
          <a:xfrm>
            <a:off x="749808" y="1965960"/>
            <a:ext cx="4956048" cy="2926080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7795890" name="TextBox 10"/>
          <p:cNvSpPr txBox="1"/>
          <p:nvPr/>
        </p:nvSpPr>
        <p:spPr bwMode="auto">
          <a:xfrm>
            <a:off x="1060704" y="2331720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i="0">
                <a:solidFill>
                  <a:srgbClr val="00AEBE"/>
                </a:solidFill>
                <a:latin typeface="Aptos"/>
              </a:rPr>
              <a:t>SILVER</a:t>
            </a:r>
            <a:endParaRPr/>
          </a:p>
        </p:txBody>
      </p:sp>
      <p:sp>
        <p:nvSpPr>
          <p:cNvPr id="1186947602" name="TextBox 11"/>
          <p:cNvSpPr txBox="1"/>
          <p:nvPr/>
        </p:nvSpPr>
        <p:spPr bwMode="auto">
          <a:xfrm>
            <a:off x="1060704" y="2724911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082448"/>
                </a:solidFill>
                <a:latin typeface="Aptos"/>
              </a:rPr>
              <a:t>Cleaned &amp; validated</a:t>
            </a:r>
            <a:endParaRPr/>
          </a:p>
        </p:txBody>
      </p:sp>
      <p:sp>
        <p:nvSpPr>
          <p:cNvPr id="1888387445" name="TextBox 12"/>
          <p:cNvSpPr txBox="1"/>
          <p:nvPr/>
        </p:nvSpPr>
        <p:spPr bwMode="auto">
          <a:xfrm>
            <a:off x="1078992" y="3246120"/>
            <a:ext cx="3977639" cy="1078992"/>
          </a:xfrm>
          <a:prstGeom prst="rect">
            <a:avLst/>
          </a:prstGeom>
          <a:noFill/>
        </p:spPr>
        <p:txBody>
          <a:bodyPr wrap="square" lIns="9144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Standardized schema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Quality rules applied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Bad records separated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Suitable for reliable reuse</a:t>
            </a:r>
            <a:endParaRPr/>
          </a:p>
        </p:txBody>
      </p:sp>
      <p:cxnSp>
        <p:nvCxnSpPr>
          <p:cNvPr id="1382440580" name="Connector 13"/>
          <p:cNvCxnSpPr/>
          <p:nvPr/>
        </p:nvCxnSpPr>
        <p:spPr bwMode="auto">
          <a:xfrm>
            <a:off x="5897880" y="3401568"/>
            <a:ext cx="365760" cy="0"/>
          </a:xfrm>
          <a:prstGeom prst="line">
            <a:avLst/>
          </a:prstGeom>
          <a:ln w="31750">
            <a:solidFill>
              <a:srgbClr val="23A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6076027" name="Rounded Rectangle 14"/>
          <p:cNvSpPr/>
          <p:nvPr/>
        </p:nvSpPr>
        <p:spPr bwMode="auto">
          <a:xfrm>
            <a:off x="6473952" y="1965960"/>
            <a:ext cx="4956048" cy="2926080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5684206" name="TextBox 15"/>
          <p:cNvSpPr txBox="1"/>
          <p:nvPr/>
        </p:nvSpPr>
        <p:spPr bwMode="auto">
          <a:xfrm>
            <a:off x="6784848" y="2331720"/>
            <a:ext cx="1143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i="0">
                <a:solidFill>
                  <a:srgbClr val="7256CF"/>
                </a:solidFill>
                <a:latin typeface="Aptos"/>
              </a:rPr>
              <a:t>GOLD</a:t>
            </a:r>
            <a:endParaRPr/>
          </a:p>
        </p:txBody>
      </p:sp>
      <p:sp>
        <p:nvSpPr>
          <p:cNvPr id="956749144" name="TextBox 16"/>
          <p:cNvSpPr txBox="1"/>
          <p:nvPr/>
        </p:nvSpPr>
        <p:spPr bwMode="auto">
          <a:xfrm>
            <a:off x="6784848" y="2724911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082448"/>
                </a:solidFill>
                <a:latin typeface="Aptos"/>
              </a:rPr>
              <a:t>Analytics-ready</a:t>
            </a:r>
            <a:endParaRPr/>
          </a:p>
        </p:txBody>
      </p:sp>
      <p:sp>
        <p:nvSpPr>
          <p:cNvPr id="2121140503" name="TextBox 17"/>
          <p:cNvSpPr txBox="1"/>
          <p:nvPr/>
        </p:nvSpPr>
        <p:spPr bwMode="auto">
          <a:xfrm>
            <a:off x="6803136" y="3246120"/>
            <a:ext cx="3977639" cy="1078992"/>
          </a:xfrm>
          <a:prstGeom prst="rect">
            <a:avLst/>
          </a:prstGeom>
          <a:noFill/>
        </p:spPr>
        <p:txBody>
          <a:bodyPr wrap="square" lIns="9144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Derived features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Aggregated metrics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SQL and dashboard friendly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Input for downstream ML</a:t>
            </a:r>
            <a:endParaRPr/>
          </a:p>
        </p:txBody>
      </p:sp>
      <p:sp>
        <p:nvSpPr>
          <p:cNvPr id="1730758084" name="Rounded Rectangle 18"/>
          <p:cNvSpPr/>
          <p:nvPr/>
        </p:nvSpPr>
        <p:spPr bwMode="auto">
          <a:xfrm>
            <a:off x="2148840" y="5349240"/>
            <a:ext cx="7909560" cy="548640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3941156" name="TextBox 19"/>
          <p:cNvSpPr txBox="1"/>
          <p:nvPr/>
        </p:nvSpPr>
        <p:spPr bwMode="auto">
          <a:xfrm>
            <a:off x="2331720" y="5522976"/>
            <a:ext cx="7543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0">
                <a:solidFill>
                  <a:srgbClr val="FFFFFF"/>
                </a:solidFill>
                <a:latin typeface="Aptos"/>
              </a:rPr>
              <a:t>Raw → trusted → useful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719563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3031253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04 / DELIVERY</a:t>
            </a:r>
            <a:endParaRPr/>
          </a:p>
        </p:txBody>
      </p:sp>
      <p:sp>
        <p:nvSpPr>
          <p:cNvPr id="1426104069" name="TextBox 3"/>
          <p:cNvSpPr txBox="1"/>
          <p:nvPr/>
        </p:nvSpPr>
        <p:spPr bwMode="auto">
          <a:xfrm>
            <a:off x="530352" y="594360"/>
            <a:ext cx="1060847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Airflow: Orchestration &amp; Quality gates</a:t>
            </a:r>
            <a:endParaRPr/>
          </a:p>
        </p:txBody>
      </p:sp>
      <p:sp>
        <p:nvSpPr>
          <p:cNvPr id="1089033387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16</a:t>
            </a:r>
            <a:endParaRPr/>
          </a:p>
        </p:txBody>
      </p:sp>
      <p:cxnSp>
        <p:nvCxnSpPr>
          <p:cNvPr id="1362600490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496134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119672313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421039996" name="TextBox 8"/>
          <p:cNvSpPr txBox="1"/>
          <p:nvPr/>
        </p:nvSpPr>
        <p:spPr bwMode="auto">
          <a:xfrm>
            <a:off x="566928" y="1298448"/>
            <a:ext cx="9509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Airflow coordinates the order of work; Spark remains responsible for heavy data processing.</a:t>
            </a:r>
            <a:endParaRPr/>
          </a:p>
        </p:txBody>
      </p:sp>
      <p:sp>
        <p:nvSpPr>
          <p:cNvPr id="442238571" name="Rounded Rectangle 9"/>
          <p:cNvSpPr/>
          <p:nvPr/>
        </p:nvSpPr>
        <p:spPr bwMode="auto">
          <a:xfrm>
            <a:off x="768096" y="1901952"/>
            <a:ext cx="10625328" cy="19019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5977399" name="Oval 10"/>
          <p:cNvSpPr/>
          <p:nvPr/>
        </p:nvSpPr>
        <p:spPr bwMode="auto">
          <a:xfrm>
            <a:off x="1097280" y="2395728"/>
            <a:ext cx="594360" cy="594360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555449" name="TextBox 11"/>
          <p:cNvSpPr txBox="1"/>
          <p:nvPr/>
        </p:nvSpPr>
        <p:spPr bwMode="auto">
          <a:xfrm>
            <a:off x="1097280" y="2404872"/>
            <a:ext cx="5943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  <a:endParaRPr/>
          </a:p>
        </p:txBody>
      </p:sp>
      <p:sp>
        <p:nvSpPr>
          <p:cNvPr id="411439983" name="TextBox 12"/>
          <p:cNvSpPr txBox="1"/>
          <p:nvPr/>
        </p:nvSpPr>
        <p:spPr bwMode="auto">
          <a:xfrm>
            <a:off x="914400" y="3127248"/>
            <a:ext cx="969264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Check</a:t>
            </a:r>
            <a:br>
              <a:rPr sz="1050" b="1" i="0">
                <a:solidFill>
                  <a:srgbClr val="17273A"/>
                </a:solidFill>
                <a:latin typeface="Aptos"/>
              </a:rPr>
            </a:br>
            <a:r>
              <a:rPr sz="1050" b="1" i="0">
                <a:solidFill>
                  <a:srgbClr val="17273A"/>
                </a:solidFill>
                <a:latin typeface="Aptos"/>
              </a:rPr>
              <a:t>source</a:t>
            </a:r>
            <a:endParaRPr/>
          </a:p>
        </p:txBody>
      </p:sp>
      <p:cxnSp>
        <p:nvCxnSpPr>
          <p:cNvPr id="1256160698" name="Connector 13"/>
          <p:cNvCxnSpPr/>
          <p:nvPr/>
        </p:nvCxnSpPr>
        <p:spPr bwMode="auto">
          <a:xfrm>
            <a:off x="1847088" y="2697480"/>
            <a:ext cx="1097280" cy="0"/>
          </a:xfrm>
          <a:prstGeom prst="line">
            <a:avLst/>
          </a:prstGeom>
          <a:ln w="2540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5487248" name="Oval 14"/>
          <p:cNvSpPr/>
          <p:nvPr/>
        </p:nvSpPr>
        <p:spPr bwMode="auto">
          <a:xfrm>
            <a:off x="3136391" y="2395728"/>
            <a:ext cx="594360" cy="594360"/>
          </a:xfrm>
          <a:prstGeom prst="ellipse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3270083" name="TextBox 15"/>
          <p:cNvSpPr txBox="1"/>
          <p:nvPr/>
        </p:nvSpPr>
        <p:spPr bwMode="auto">
          <a:xfrm>
            <a:off x="3136391" y="2404872"/>
            <a:ext cx="5943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  <a:endParaRPr/>
          </a:p>
        </p:txBody>
      </p:sp>
      <p:sp>
        <p:nvSpPr>
          <p:cNvPr id="940833763" name="TextBox 16"/>
          <p:cNvSpPr txBox="1"/>
          <p:nvPr/>
        </p:nvSpPr>
        <p:spPr bwMode="auto">
          <a:xfrm>
            <a:off x="2953511" y="3127248"/>
            <a:ext cx="969264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Verify / upload</a:t>
            </a:r>
            <a:br>
              <a:rPr sz="1050" b="1" i="0">
                <a:solidFill>
                  <a:srgbClr val="17273A"/>
                </a:solidFill>
                <a:latin typeface="Aptos"/>
              </a:rPr>
            </a:br>
            <a:r>
              <a:rPr sz="1050" b="1" i="0">
                <a:solidFill>
                  <a:srgbClr val="17273A"/>
                </a:solidFill>
                <a:latin typeface="Aptos"/>
              </a:rPr>
              <a:t>Bronze</a:t>
            </a:r>
            <a:endParaRPr/>
          </a:p>
        </p:txBody>
      </p:sp>
      <p:cxnSp>
        <p:nvCxnSpPr>
          <p:cNvPr id="182943750" name="Connector 17"/>
          <p:cNvCxnSpPr/>
          <p:nvPr/>
        </p:nvCxnSpPr>
        <p:spPr bwMode="auto">
          <a:xfrm>
            <a:off x="3886200" y="2697480"/>
            <a:ext cx="1097279" cy="0"/>
          </a:xfrm>
          <a:prstGeom prst="line">
            <a:avLst/>
          </a:prstGeom>
          <a:ln w="2540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4651165" name="Oval 18"/>
          <p:cNvSpPr/>
          <p:nvPr/>
        </p:nvSpPr>
        <p:spPr bwMode="auto">
          <a:xfrm>
            <a:off x="5175504" y="2395728"/>
            <a:ext cx="594360" cy="594360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0860486" name="TextBox 19"/>
          <p:cNvSpPr txBox="1"/>
          <p:nvPr/>
        </p:nvSpPr>
        <p:spPr bwMode="auto">
          <a:xfrm>
            <a:off x="5175504" y="2404872"/>
            <a:ext cx="5943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  <a:endParaRPr/>
          </a:p>
        </p:txBody>
      </p:sp>
      <p:sp>
        <p:nvSpPr>
          <p:cNvPr id="1595610662" name="TextBox 20"/>
          <p:cNvSpPr txBox="1"/>
          <p:nvPr/>
        </p:nvSpPr>
        <p:spPr bwMode="auto">
          <a:xfrm>
            <a:off x="4992624" y="3127248"/>
            <a:ext cx="969264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Run Spark</a:t>
            </a:r>
            <a:br>
              <a:rPr sz="1050" b="1" i="0">
                <a:solidFill>
                  <a:srgbClr val="17273A"/>
                </a:solidFill>
                <a:latin typeface="Aptos"/>
              </a:rPr>
            </a:br>
            <a:r>
              <a:rPr sz="1050" b="1" i="0">
                <a:solidFill>
                  <a:srgbClr val="17273A"/>
                </a:solidFill>
                <a:latin typeface="Aptos"/>
              </a:rPr>
              <a:t>Batch</a:t>
            </a:r>
            <a:endParaRPr/>
          </a:p>
        </p:txBody>
      </p:sp>
      <p:cxnSp>
        <p:nvCxnSpPr>
          <p:cNvPr id="1406462016" name="Connector 21"/>
          <p:cNvCxnSpPr/>
          <p:nvPr/>
        </p:nvCxnSpPr>
        <p:spPr bwMode="auto">
          <a:xfrm>
            <a:off x="5925312" y="2697480"/>
            <a:ext cx="1097280" cy="0"/>
          </a:xfrm>
          <a:prstGeom prst="line">
            <a:avLst/>
          </a:prstGeom>
          <a:ln w="2540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448712" name="Oval 22"/>
          <p:cNvSpPr/>
          <p:nvPr/>
        </p:nvSpPr>
        <p:spPr bwMode="auto">
          <a:xfrm>
            <a:off x="7214616" y="2395728"/>
            <a:ext cx="594360" cy="594360"/>
          </a:xfrm>
          <a:prstGeom prst="ellipse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725097" name="TextBox 23"/>
          <p:cNvSpPr txBox="1"/>
          <p:nvPr/>
        </p:nvSpPr>
        <p:spPr bwMode="auto">
          <a:xfrm>
            <a:off x="7214616" y="2404872"/>
            <a:ext cx="5943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  <a:endParaRPr/>
          </a:p>
        </p:txBody>
      </p:sp>
      <p:sp>
        <p:nvSpPr>
          <p:cNvPr id="859838460" name="TextBox 24"/>
          <p:cNvSpPr txBox="1"/>
          <p:nvPr/>
        </p:nvSpPr>
        <p:spPr bwMode="auto">
          <a:xfrm>
            <a:off x="7031736" y="3127248"/>
            <a:ext cx="969264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Quality</a:t>
            </a:r>
            <a:br>
              <a:rPr sz="1050" b="1" i="0">
                <a:solidFill>
                  <a:srgbClr val="17273A"/>
                </a:solidFill>
                <a:latin typeface="Aptos"/>
              </a:rPr>
            </a:br>
            <a:r>
              <a:rPr sz="1050" b="1" i="0">
                <a:solidFill>
                  <a:srgbClr val="17273A"/>
                </a:solidFill>
                <a:latin typeface="Aptos"/>
              </a:rPr>
              <a:t>gate</a:t>
            </a:r>
            <a:endParaRPr/>
          </a:p>
        </p:txBody>
      </p:sp>
      <p:cxnSp>
        <p:nvCxnSpPr>
          <p:cNvPr id="963273189" name="Connector 25"/>
          <p:cNvCxnSpPr/>
          <p:nvPr/>
        </p:nvCxnSpPr>
        <p:spPr bwMode="auto">
          <a:xfrm>
            <a:off x="7964423" y="2697480"/>
            <a:ext cx="1097281" cy="0"/>
          </a:xfrm>
          <a:prstGeom prst="line">
            <a:avLst/>
          </a:prstGeom>
          <a:ln w="2540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702292" name="Oval 26"/>
          <p:cNvSpPr/>
          <p:nvPr/>
        </p:nvSpPr>
        <p:spPr bwMode="auto">
          <a:xfrm>
            <a:off x="9253728" y="2395728"/>
            <a:ext cx="594360" cy="594360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2586774" name="TextBox 27"/>
          <p:cNvSpPr txBox="1"/>
          <p:nvPr/>
        </p:nvSpPr>
        <p:spPr bwMode="auto">
          <a:xfrm>
            <a:off x="9253728" y="2404872"/>
            <a:ext cx="5943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  <a:endParaRPr/>
          </a:p>
        </p:txBody>
      </p:sp>
      <p:sp>
        <p:nvSpPr>
          <p:cNvPr id="1663187507" name="TextBox 28"/>
          <p:cNvSpPr txBox="1"/>
          <p:nvPr/>
        </p:nvSpPr>
        <p:spPr bwMode="auto">
          <a:xfrm>
            <a:off x="9070848" y="3127248"/>
            <a:ext cx="969264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17273A"/>
                </a:solidFill>
                <a:latin typeface="Aptos"/>
              </a:rPr>
              <a:t>Validate</a:t>
            </a:r>
            <a:br>
              <a:rPr sz="1050" b="1" i="0">
                <a:solidFill>
                  <a:srgbClr val="17273A"/>
                </a:solidFill>
                <a:latin typeface="Aptos"/>
              </a:rPr>
            </a:br>
            <a:r>
              <a:rPr sz="1050" b="1" i="0">
                <a:solidFill>
                  <a:srgbClr val="17273A"/>
                </a:solidFill>
                <a:latin typeface="Aptos"/>
              </a:rPr>
              <a:t>PostgreSQL</a:t>
            </a:r>
            <a:endParaRPr/>
          </a:p>
        </p:txBody>
      </p:sp>
      <p:sp>
        <p:nvSpPr>
          <p:cNvPr id="1444528927" name="TextBox 29"/>
          <p:cNvSpPr txBox="1"/>
          <p:nvPr/>
        </p:nvSpPr>
        <p:spPr bwMode="auto">
          <a:xfrm>
            <a:off x="4407408" y="4160519"/>
            <a:ext cx="3383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00" b="0" i="0">
                <a:solidFill>
                  <a:srgbClr val="586A7E"/>
                </a:solidFill>
                <a:latin typeface="Aptos"/>
              </a:rPr>
              <a:t>DAG = directed acyclic graph of tasks</a:t>
            </a:r>
            <a:endParaRPr/>
          </a:p>
        </p:txBody>
      </p:sp>
      <p:sp>
        <p:nvSpPr>
          <p:cNvPr id="345310068" name="Rounded Rectangle 30"/>
          <p:cNvSpPr/>
          <p:nvPr/>
        </p:nvSpPr>
        <p:spPr bwMode="auto">
          <a:xfrm>
            <a:off x="822960" y="4828032"/>
            <a:ext cx="3246120" cy="8961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298814" name="Rectangle 31"/>
          <p:cNvSpPr/>
          <p:nvPr/>
        </p:nvSpPr>
        <p:spPr bwMode="auto">
          <a:xfrm>
            <a:off x="822960" y="4828032"/>
            <a:ext cx="54864" cy="896112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0276960" name="TextBox 32"/>
          <p:cNvSpPr txBox="1"/>
          <p:nvPr/>
        </p:nvSpPr>
        <p:spPr bwMode="auto">
          <a:xfrm>
            <a:off x="987552" y="4974336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Scheduling</a:t>
            </a:r>
            <a:endParaRPr/>
          </a:p>
        </p:txBody>
      </p:sp>
      <p:sp>
        <p:nvSpPr>
          <p:cNvPr id="1473801050" name="TextBox 33"/>
          <p:cNvSpPr txBox="1"/>
          <p:nvPr/>
        </p:nvSpPr>
        <p:spPr bwMode="auto">
          <a:xfrm>
            <a:off x="987552" y="5358384"/>
            <a:ext cx="2953512" cy="2743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Defines when and in what order tasks run.</a:t>
            </a:r>
            <a:endParaRPr/>
          </a:p>
        </p:txBody>
      </p:sp>
      <p:sp>
        <p:nvSpPr>
          <p:cNvPr id="1416712072" name="Rounded Rectangle 34"/>
          <p:cNvSpPr/>
          <p:nvPr/>
        </p:nvSpPr>
        <p:spPr bwMode="auto">
          <a:xfrm>
            <a:off x="4462272" y="4828032"/>
            <a:ext cx="3246120" cy="8961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7423176" name="Rectangle 35"/>
          <p:cNvSpPr/>
          <p:nvPr/>
        </p:nvSpPr>
        <p:spPr bwMode="auto">
          <a:xfrm>
            <a:off x="4462272" y="4828032"/>
            <a:ext cx="54864" cy="896112"/>
          </a:xfrm>
          <a:prstGeom prst="rect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0797526" name="TextBox 36"/>
          <p:cNvSpPr txBox="1"/>
          <p:nvPr/>
        </p:nvSpPr>
        <p:spPr bwMode="auto">
          <a:xfrm>
            <a:off x="4626864" y="4974336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Observability</a:t>
            </a:r>
            <a:endParaRPr/>
          </a:p>
        </p:txBody>
      </p:sp>
      <p:sp>
        <p:nvSpPr>
          <p:cNvPr id="964094545" name="TextBox 37"/>
          <p:cNvSpPr txBox="1"/>
          <p:nvPr/>
        </p:nvSpPr>
        <p:spPr bwMode="auto">
          <a:xfrm>
            <a:off x="4626864" y="5358384"/>
            <a:ext cx="2953512" cy="2743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Makes task status and failures visible.</a:t>
            </a:r>
            <a:endParaRPr/>
          </a:p>
        </p:txBody>
      </p:sp>
      <p:sp>
        <p:nvSpPr>
          <p:cNvPr id="877006226" name="Rounded Rectangle 38"/>
          <p:cNvSpPr/>
          <p:nvPr/>
        </p:nvSpPr>
        <p:spPr bwMode="auto">
          <a:xfrm>
            <a:off x="8101582" y="4828032"/>
            <a:ext cx="3246120" cy="8961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9618403" name="Rectangle 39"/>
          <p:cNvSpPr/>
          <p:nvPr/>
        </p:nvSpPr>
        <p:spPr bwMode="auto">
          <a:xfrm>
            <a:off x="8101582" y="4828032"/>
            <a:ext cx="54864" cy="896112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343281" name="TextBox 40"/>
          <p:cNvSpPr txBox="1"/>
          <p:nvPr/>
        </p:nvSpPr>
        <p:spPr bwMode="auto">
          <a:xfrm>
            <a:off x="8266175" y="4974336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17273A"/>
                </a:solidFill>
                <a:latin typeface="Aptos"/>
              </a:rPr>
              <a:t>Recovery</a:t>
            </a:r>
            <a:endParaRPr/>
          </a:p>
        </p:txBody>
      </p:sp>
      <p:sp>
        <p:nvSpPr>
          <p:cNvPr id="687447383" name="TextBox 41"/>
          <p:cNvSpPr txBox="1"/>
          <p:nvPr/>
        </p:nvSpPr>
        <p:spPr bwMode="auto">
          <a:xfrm>
            <a:off x="8266175" y="5358384"/>
            <a:ext cx="2953512" cy="2743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050" b="0" i="0">
                <a:solidFill>
                  <a:srgbClr val="586A7E"/>
                </a:solidFill>
                <a:latin typeface="Aptos"/>
              </a:rPr>
              <a:t>Supports retries and controlled reruns.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977072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659579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04 / DELIVERY</a:t>
            </a:r>
            <a:endParaRPr/>
          </a:p>
        </p:txBody>
      </p:sp>
      <p:sp>
        <p:nvSpPr>
          <p:cNvPr id="654546946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PostgreSQL: The serving layer</a:t>
            </a:r>
            <a:endParaRPr/>
          </a:p>
        </p:txBody>
      </p:sp>
      <p:sp>
        <p:nvSpPr>
          <p:cNvPr id="1559864582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17</a:t>
            </a:r>
            <a:endParaRPr/>
          </a:p>
        </p:txBody>
      </p:sp>
      <p:cxnSp>
        <p:nvCxnSpPr>
          <p:cNvPr id="1625937132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417471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146787280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580529184" name="TextBox 8"/>
          <p:cNvSpPr txBox="1"/>
          <p:nvPr/>
        </p:nvSpPr>
        <p:spPr bwMode="auto">
          <a:xfrm>
            <a:off x="566928" y="1298448"/>
            <a:ext cx="9144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Processed data and key metrics are exposed through SQL-friendly tables and views.</a:t>
            </a:r>
            <a:endParaRPr/>
          </a:p>
        </p:txBody>
      </p:sp>
      <p:sp>
        <p:nvSpPr>
          <p:cNvPr id="1997385442" name="Rounded Rectangle 9"/>
          <p:cNvSpPr/>
          <p:nvPr/>
        </p:nvSpPr>
        <p:spPr bwMode="auto">
          <a:xfrm>
            <a:off x="786384" y="1874519"/>
            <a:ext cx="3749039" cy="3429000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8763031" name="TextBox 10"/>
          <p:cNvSpPr txBox="1"/>
          <p:nvPr/>
        </p:nvSpPr>
        <p:spPr bwMode="auto">
          <a:xfrm>
            <a:off x="1133856" y="2212848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00AEBE"/>
                </a:solidFill>
                <a:latin typeface="Aptos"/>
              </a:rPr>
              <a:t>POSTGRESQL</a:t>
            </a:r>
            <a:endParaRPr/>
          </a:p>
        </p:txBody>
      </p:sp>
      <p:sp>
        <p:nvSpPr>
          <p:cNvPr id="136818154" name="TextBox 11"/>
          <p:cNvSpPr txBox="1"/>
          <p:nvPr/>
        </p:nvSpPr>
        <p:spPr bwMode="auto">
          <a:xfrm>
            <a:off x="1133856" y="257860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b="1" i="0">
                <a:solidFill>
                  <a:srgbClr val="FFFFFF"/>
                </a:solidFill>
                <a:latin typeface="Aptos"/>
              </a:rPr>
              <a:t>Serving database</a:t>
            </a:r>
            <a:endParaRPr/>
          </a:p>
        </p:txBody>
      </p:sp>
      <p:sp>
        <p:nvSpPr>
          <p:cNvPr id="624765930" name="Rounded Rectangle 12"/>
          <p:cNvSpPr/>
          <p:nvPr/>
        </p:nvSpPr>
        <p:spPr bwMode="auto">
          <a:xfrm>
            <a:off x="1225296" y="3246120"/>
            <a:ext cx="2862072" cy="274320"/>
          </a:xfrm>
          <a:prstGeom prst="roundRect">
            <a:avLst>
              <a:gd name="adj" fmla="val 16667"/>
            </a:avLst>
          </a:prstGeom>
          <a:solidFill>
            <a:srgbClr val="17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066290" name="TextBox 13"/>
          <p:cNvSpPr txBox="1"/>
          <p:nvPr/>
        </p:nvSpPr>
        <p:spPr bwMode="auto">
          <a:xfrm>
            <a:off x="1298448" y="3310127"/>
            <a:ext cx="271576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daily_market_metrics (25,500 rows)</a:t>
            </a:r>
            <a:endParaRPr/>
          </a:p>
        </p:txBody>
      </p:sp>
      <p:sp>
        <p:nvSpPr>
          <p:cNvPr id="454319231" name="Rounded Rectangle 14"/>
          <p:cNvSpPr/>
          <p:nvPr/>
        </p:nvSpPr>
        <p:spPr bwMode="auto">
          <a:xfrm>
            <a:off x="1225296" y="3639312"/>
            <a:ext cx="2862072" cy="274320"/>
          </a:xfrm>
          <a:prstGeom prst="roundRect">
            <a:avLst>
              <a:gd name="adj" fmla="val 16667"/>
            </a:avLst>
          </a:prstGeom>
          <a:solidFill>
            <a:srgbClr val="17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282097" name="TextBox 15"/>
          <p:cNvSpPr txBox="1"/>
          <p:nvPr/>
        </p:nvSpPr>
        <p:spPr bwMode="auto">
          <a:xfrm>
            <a:off x="1298448" y="3703320"/>
            <a:ext cx="271576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streaming_market_metrics (4,335 rows)</a:t>
            </a:r>
            <a:endParaRPr/>
          </a:p>
        </p:txBody>
      </p:sp>
      <p:sp>
        <p:nvSpPr>
          <p:cNvPr id="793922085" name="Rounded Rectangle 16"/>
          <p:cNvSpPr/>
          <p:nvPr/>
        </p:nvSpPr>
        <p:spPr bwMode="auto">
          <a:xfrm>
            <a:off x="1225296" y="4032504"/>
            <a:ext cx="2862072" cy="274320"/>
          </a:xfrm>
          <a:prstGeom prst="roundRect">
            <a:avLst>
              <a:gd name="adj" fmla="val 16667"/>
            </a:avLst>
          </a:prstGeom>
          <a:solidFill>
            <a:srgbClr val="17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9001509" name="TextBox 17"/>
          <p:cNvSpPr txBox="1"/>
          <p:nvPr/>
        </p:nvSpPr>
        <p:spPr bwMode="auto">
          <a:xfrm>
            <a:off x="1298448" y="4096512"/>
            <a:ext cx="271576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vw_streaming_metrics (0.145 ms index scan)</a:t>
            </a:r>
            <a:endParaRPr/>
          </a:p>
        </p:txBody>
      </p:sp>
      <p:sp>
        <p:nvSpPr>
          <p:cNvPr id="1563731520" name="Rounded Rectangle 18"/>
          <p:cNvSpPr/>
          <p:nvPr/>
        </p:nvSpPr>
        <p:spPr bwMode="auto">
          <a:xfrm>
            <a:off x="1225296" y="4425696"/>
            <a:ext cx="2862072" cy="274320"/>
          </a:xfrm>
          <a:prstGeom prst="roundRect">
            <a:avLst>
              <a:gd name="adj" fmla="val 16667"/>
            </a:avLst>
          </a:prstGeom>
          <a:solidFill>
            <a:srgbClr val="17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1778010" name="TextBox 19"/>
          <p:cNvSpPr txBox="1"/>
          <p:nvPr/>
        </p:nvSpPr>
        <p:spPr bwMode="auto">
          <a:xfrm>
            <a:off x="1298448" y="4489704"/>
            <a:ext cx="271576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t>Top Stocks: PEP (.9), CMCSA (.2), CRM (.1)</a:t>
            </a:r>
            <a:endParaRPr/>
          </a:p>
        </p:txBody>
      </p:sp>
      <p:cxnSp>
        <p:nvCxnSpPr>
          <p:cNvPr id="749636348" name="Connector 20"/>
          <p:cNvCxnSpPr/>
          <p:nvPr/>
        </p:nvCxnSpPr>
        <p:spPr bwMode="auto">
          <a:xfrm>
            <a:off x="4736592" y="3584448"/>
            <a:ext cx="804672" cy="0"/>
          </a:xfrm>
          <a:prstGeom prst="line">
            <a:avLst/>
          </a:prstGeom>
          <a:ln w="29209">
            <a:solidFill>
              <a:srgbClr val="198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0075858" name="Rounded Rectangle 21"/>
          <p:cNvSpPr/>
          <p:nvPr/>
        </p:nvSpPr>
        <p:spPr bwMode="auto">
          <a:xfrm>
            <a:off x="5742432" y="1993392"/>
            <a:ext cx="2514600" cy="1261872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184204" name="Rectangle 22"/>
          <p:cNvSpPr/>
          <p:nvPr/>
        </p:nvSpPr>
        <p:spPr bwMode="auto">
          <a:xfrm>
            <a:off x="5742432" y="1993392"/>
            <a:ext cx="54864" cy="1261872"/>
          </a:xfrm>
          <a:prstGeom prst="rect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3241229" name="TextBox 23"/>
          <p:cNvSpPr txBox="1"/>
          <p:nvPr/>
        </p:nvSpPr>
        <p:spPr bwMode="auto">
          <a:xfrm>
            <a:off x="5907024" y="2139696"/>
            <a:ext cx="22402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Queryable</a:t>
            </a:r>
            <a:endParaRPr/>
          </a:p>
        </p:txBody>
      </p:sp>
      <p:sp>
        <p:nvSpPr>
          <p:cNvPr id="355381441" name="TextBox 24"/>
          <p:cNvSpPr txBox="1"/>
          <p:nvPr/>
        </p:nvSpPr>
        <p:spPr bwMode="auto">
          <a:xfrm>
            <a:off x="5907024" y="2523744"/>
            <a:ext cx="2221992" cy="6400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t>Power BI DirectQuery latency: 0.145 ms via B-Tree index scan (idx_smm_symbol).</a:t>
            </a:r>
            <a:endParaRPr/>
          </a:p>
        </p:txBody>
      </p:sp>
      <p:sp>
        <p:nvSpPr>
          <p:cNvPr id="9468356" name="Rounded Rectangle 25"/>
          <p:cNvSpPr/>
          <p:nvPr/>
        </p:nvSpPr>
        <p:spPr bwMode="auto">
          <a:xfrm>
            <a:off x="8577072" y="1993392"/>
            <a:ext cx="2514600" cy="1261872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298298" name="Rectangle 26"/>
          <p:cNvSpPr/>
          <p:nvPr/>
        </p:nvSpPr>
        <p:spPr bwMode="auto">
          <a:xfrm>
            <a:off x="8577072" y="1993392"/>
            <a:ext cx="54864" cy="1261872"/>
          </a:xfrm>
          <a:prstGeom prst="rect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897708" name="TextBox 27"/>
          <p:cNvSpPr txBox="1"/>
          <p:nvPr/>
        </p:nvSpPr>
        <p:spPr bwMode="auto">
          <a:xfrm>
            <a:off x="8741664" y="2139696"/>
            <a:ext cx="22402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Reusable</a:t>
            </a:r>
            <a:endParaRPr/>
          </a:p>
        </p:txBody>
      </p:sp>
      <p:sp>
        <p:nvSpPr>
          <p:cNvPr id="145584420" name="TextBox 28"/>
          <p:cNvSpPr txBox="1"/>
          <p:nvPr/>
        </p:nvSpPr>
        <p:spPr bwMode="auto">
          <a:xfrm>
            <a:off x="8741664" y="2523744"/>
            <a:ext cx="2221992" cy="6400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00" b="0" i="0">
                <a:solidFill>
                  <a:srgbClr val="586A7E"/>
                </a:solidFill>
                <a:latin typeface="Aptos"/>
              </a:rPr>
              <a:t>Views provide a stable interface for common metrics.</a:t>
            </a:r>
            <a:endParaRPr/>
          </a:p>
        </p:txBody>
      </p:sp>
      <p:sp>
        <p:nvSpPr>
          <p:cNvPr id="128736692" name="Rounded Rectangle 29"/>
          <p:cNvSpPr/>
          <p:nvPr/>
        </p:nvSpPr>
        <p:spPr bwMode="auto">
          <a:xfrm>
            <a:off x="5742432" y="3675887"/>
            <a:ext cx="5349240" cy="1261872"/>
          </a:xfrm>
          <a:prstGeom prst="roundRect">
            <a:avLst>
              <a:gd name="adj" fmla="val 16667"/>
            </a:avLst>
          </a:prstGeom>
          <a:solidFill>
            <a:srgbClr val="EF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287717" name="Rectangle 30"/>
          <p:cNvSpPr/>
          <p:nvPr/>
        </p:nvSpPr>
        <p:spPr bwMode="auto">
          <a:xfrm>
            <a:off x="5742432" y="3675887"/>
            <a:ext cx="54864" cy="1261872"/>
          </a:xfrm>
          <a:prstGeom prst="rect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6473724" name="TextBox 31"/>
          <p:cNvSpPr txBox="1"/>
          <p:nvPr/>
        </p:nvSpPr>
        <p:spPr bwMode="auto">
          <a:xfrm>
            <a:off x="5907024" y="3822191"/>
            <a:ext cx="5074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17273A"/>
                </a:solidFill>
                <a:latin typeface="Aptos"/>
              </a:rPr>
              <a:t>Serving boundary</a:t>
            </a:r>
            <a:endParaRPr/>
          </a:p>
        </p:txBody>
      </p:sp>
      <p:sp>
        <p:nvSpPr>
          <p:cNvPr id="1063242553" name="TextBox 32"/>
          <p:cNvSpPr txBox="1"/>
          <p:nvPr/>
        </p:nvSpPr>
        <p:spPr bwMode="auto">
          <a:xfrm>
            <a:off x="5907024" y="4206240"/>
            <a:ext cx="5056631" cy="6400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/>
            </a:pPr>
            <a:r>
              <a:rPr sz="1100" b="0" i="0">
                <a:solidFill>
                  <a:srgbClr val="586A7E"/>
                </a:solidFill>
                <a:latin typeface="Aptos"/>
              </a:rPr>
              <a:t>PostgreSQL separates the data pipeline from the tools that consume results.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995456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0987474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04 / DELIVERY</a:t>
            </a:r>
            <a:endParaRPr/>
          </a:p>
        </p:txBody>
      </p:sp>
      <p:sp>
        <p:nvSpPr>
          <p:cNvPr id="1791233054" name="TextBox 3"/>
          <p:cNvSpPr txBox="1"/>
          <p:nvPr/>
        </p:nvSpPr>
        <p:spPr bwMode="auto">
          <a:xfrm>
            <a:off x="530352" y="594360"/>
            <a:ext cx="1060775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Downstream Analytics</a:t>
            </a:r>
            <a:endParaRPr/>
          </a:p>
        </p:txBody>
      </p:sp>
      <p:sp>
        <p:nvSpPr>
          <p:cNvPr id="557798312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18</a:t>
            </a:r>
            <a:endParaRPr/>
          </a:p>
        </p:txBody>
      </p:sp>
      <p:cxnSp>
        <p:nvCxnSpPr>
          <p:cNvPr id="1801396235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4284964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548972036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308522154" name="TextBox 8"/>
          <p:cNvSpPr txBox="1"/>
          <p:nvPr/>
        </p:nvSpPr>
        <p:spPr bwMode="auto">
          <a:xfrm>
            <a:off x="566928" y="1298448"/>
            <a:ext cx="9328679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The Gold layer supports human-facing dashboards.</a:t>
            </a:r>
            <a:endParaRPr/>
          </a:p>
        </p:txBody>
      </p:sp>
      <p:sp>
        <p:nvSpPr>
          <p:cNvPr id="943369258" name="Rounded Rectangle 9"/>
          <p:cNvSpPr/>
          <p:nvPr/>
        </p:nvSpPr>
        <p:spPr bwMode="auto">
          <a:xfrm>
            <a:off x="3207258" y="1828800"/>
            <a:ext cx="5010912" cy="3310127"/>
          </a:xfrm>
          <a:prstGeom prst="roundRect">
            <a:avLst>
              <a:gd name="adj" fmla="val 16667"/>
            </a:avLst>
          </a:prstGeom>
          <a:solidFill>
            <a:srgbClr val="E8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895721" name="Oval 10"/>
          <p:cNvSpPr/>
          <p:nvPr/>
        </p:nvSpPr>
        <p:spPr bwMode="auto">
          <a:xfrm>
            <a:off x="3516629" y="2240280"/>
            <a:ext cx="640080" cy="640080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9861176" name="TextBox 11"/>
          <p:cNvSpPr txBox="1"/>
          <p:nvPr/>
        </p:nvSpPr>
        <p:spPr bwMode="auto">
          <a:xfrm>
            <a:off x="3516629" y="2249424"/>
            <a:ext cx="640080" cy="6309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Aptos"/>
              </a:rPr>
              <a:t>BI</a:t>
            </a:r>
            <a:endParaRPr/>
          </a:p>
        </p:txBody>
      </p:sp>
      <p:sp>
        <p:nvSpPr>
          <p:cNvPr id="313639529" name="TextBox 12"/>
          <p:cNvSpPr txBox="1"/>
          <p:nvPr/>
        </p:nvSpPr>
        <p:spPr bwMode="auto">
          <a:xfrm>
            <a:off x="4434077" y="224028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1" i="0">
                <a:solidFill>
                  <a:srgbClr val="082448"/>
                </a:solidFill>
                <a:latin typeface="Aptos"/>
              </a:rPr>
              <a:t>Power BI</a:t>
            </a:r>
            <a:endParaRPr/>
          </a:p>
        </p:txBody>
      </p:sp>
      <p:sp>
        <p:nvSpPr>
          <p:cNvPr id="1700162692" name="TextBox 13"/>
          <p:cNvSpPr txBox="1"/>
          <p:nvPr/>
        </p:nvSpPr>
        <p:spPr bwMode="auto">
          <a:xfrm>
            <a:off x="4434077" y="2564892"/>
            <a:ext cx="24231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984BE"/>
                </a:solidFill>
                <a:latin typeface="Aptos"/>
              </a:rPr>
              <a:t>Dashboards &amp; reports</a:t>
            </a:r>
            <a:endParaRPr/>
          </a:p>
        </p:txBody>
      </p:sp>
      <p:sp>
        <p:nvSpPr>
          <p:cNvPr id="1221934071" name="TextBox 14"/>
          <p:cNvSpPr txBox="1"/>
          <p:nvPr/>
        </p:nvSpPr>
        <p:spPr bwMode="auto">
          <a:xfrm>
            <a:off x="3516629" y="3097530"/>
            <a:ext cx="3840480" cy="1188720"/>
          </a:xfrm>
          <a:prstGeom prst="rect">
            <a:avLst/>
          </a:prstGeom>
          <a:noFill/>
        </p:spPr>
        <p:txBody>
          <a:bodyPr wrap="square" lIns="9144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Trading volume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Daily gains and losses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Latest stock metrics</a:t>
            </a:r>
            <a:endParaRPr/>
          </a:p>
          <a:p>
            <a:pPr>
              <a:lnSpc>
                <a:spcPct val="105000"/>
              </a:lnSpc>
              <a:spcAft>
                <a:spcPts val="100"/>
              </a:spcAft>
              <a:buChar char="•"/>
              <a:defRPr/>
            </a:pPr>
            <a:r>
              <a:rPr sz="1200">
                <a:solidFill>
                  <a:srgbClr val="17273A"/>
                </a:solidFill>
                <a:latin typeface="Aptos"/>
              </a:rPr>
              <a:t>Market performance views</a:t>
            </a:r>
            <a:endParaRPr/>
          </a:p>
        </p:txBody>
      </p:sp>
      <p:sp>
        <p:nvSpPr>
          <p:cNvPr id="14075697" name="Rounded Rectangle 21"/>
          <p:cNvSpPr/>
          <p:nvPr/>
        </p:nvSpPr>
        <p:spPr bwMode="auto">
          <a:xfrm>
            <a:off x="2157984" y="5513832"/>
            <a:ext cx="7909560" cy="493776"/>
          </a:xfrm>
          <a:prstGeom prst="roundRect">
            <a:avLst>
              <a:gd name="adj" fmla="val 16667"/>
            </a:avLst>
          </a:prstGeom>
          <a:solidFill>
            <a:srgbClr val="0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002962" name="TextBox 22"/>
          <p:cNvSpPr txBox="1"/>
          <p:nvPr/>
        </p:nvSpPr>
        <p:spPr bwMode="auto">
          <a:xfrm>
            <a:off x="2359152" y="5669280"/>
            <a:ext cx="7498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50" b="1" i="0">
                <a:solidFill>
                  <a:srgbClr val="FFFFFF"/>
                </a:solidFill>
                <a:latin typeface="Aptos"/>
              </a:rPr>
              <a:t>The main pipeline prepares the data; analytics consumes it downstream.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935503" name="Rectangle 1"/>
          <p:cNvSpPr/>
          <p:nvPr/>
        </p:nvSpPr>
        <p:spPr bwMode="auto">
          <a:xfrm>
            <a:off x="0" y="0"/>
            <a:ext cx="12191695" cy="118872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4940129" name="TextBox 2"/>
          <p:cNvSpPr txBox="1"/>
          <p:nvPr/>
        </p:nvSpPr>
        <p:spPr bwMode="auto">
          <a:xfrm>
            <a:off x="530352" y="310896"/>
            <a:ext cx="2194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1" i="0">
                <a:solidFill>
                  <a:srgbClr val="00AEBE"/>
                </a:solidFill>
                <a:latin typeface="Aptos"/>
              </a:rPr>
              <a:t>05 / RELIABILITY</a:t>
            </a:r>
            <a:endParaRPr/>
          </a:p>
        </p:txBody>
      </p:sp>
      <p:sp>
        <p:nvSpPr>
          <p:cNvPr id="1596802939" name="TextBox 3"/>
          <p:cNvSpPr txBox="1"/>
          <p:nvPr/>
        </p:nvSpPr>
        <p:spPr bwMode="auto">
          <a:xfrm>
            <a:off x="530352" y="594360"/>
            <a:ext cx="10608479" cy="469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i="0">
                <a:solidFill>
                  <a:srgbClr val="082448"/>
                </a:solidFill>
                <a:latin typeface="Aptos Display"/>
              </a:rPr>
              <a:t>Testing &amp; Operational Confidence</a:t>
            </a:r>
            <a:endParaRPr/>
          </a:p>
        </p:txBody>
      </p:sp>
      <p:sp>
        <p:nvSpPr>
          <p:cNvPr id="1193610193" name="TextBox 4"/>
          <p:cNvSpPr txBox="1"/>
          <p:nvPr/>
        </p:nvSpPr>
        <p:spPr bwMode="auto">
          <a:xfrm>
            <a:off x="11228831" y="411480"/>
            <a:ext cx="476208" cy="28687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0AEBE"/>
                </a:solidFill>
                <a:latin typeface="Aptos"/>
              </a:rPr>
              <a:t>19</a:t>
            </a:r>
            <a:endParaRPr/>
          </a:p>
        </p:txBody>
      </p:sp>
      <p:cxnSp>
        <p:nvCxnSpPr>
          <p:cNvPr id="246757360" name="Connector 5"/>
          <p:cNvCxnSpPr/>
          <p:nvPr/>
        </p:nvCxnSpPr>
        <p:spPr bwMode="auto"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D3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5162472" name="TextBox 6"/>
          <p:cNvSpPr txBox="1"/>
          <p:nvPr/>
        </p:nvSpPr>
        <p:spPr bwMode="auto">
          <a:xfrm>
            <a:off x="548640" y="6565392"/>
            <a:ext cx="49377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S&amp;P 500 STOCK DATA PIPELINE</a:t>
            </a:r>
            <a:endParaRPr/>
          </a:p>
        </p:txBody>
      </p:sp>
      <p:sp>
        <p:nvSpPr>
          <p:cNvPr id="1010503415" name="TextBox 7"/>
          <p:cNvSpPr txBox="1"/>
          <p:nvPr/>
        </p:nvSpPr>
        <p:spPr bwMode="auto">
          <a:xfrm>
            <a:off x="8595360" y="6565392"/>
            <a:ext cx="30632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750" b="0" i="0">
                <a:solidFill>
                  <a:srgbClr val="586A7E"/>
                </a:solidFill>
                <a:latin typeface="Aptos"/>
              </a:rPr>
              <a:t>NTI • TECHNICAL PROPOSAL</a:t>
            </a:r>
            <a:endParaRPr/>
          </a:p>
        </p:txBody>
      </p:sp>
      <p:sp>
        <p:nvSpPr>
          <p:cNvPr id="1889087675" name="TextBox 8"/>
          <p:cNvSpPr txBox="1"/>
          <p:nvPr/>
        </p:nvSpPr>
        <p:spPr bwMode="auto">
          <a:xfrm>
            <a:off x="566928" y="1298448"/>
            <a:ext cx="9509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 i="0">
                <a:solidFill>
                  <a:srgbClr val="586A7E"/>
                </a:solidFill>
                <a:latin typeface="Aptos"/>
              </a:rPr>
              <a:t>Reliability is checked at the schema, transformation, streaming, and recovery boundaries.</a:t>
            </a:r>
            <a:endParaRPr/>
          </a:p>
        </p:txBody>
      </p:sp>
      <p:sp>
        <p:nvSpPr>
          <p:cNvPr id="1798937005" name="Rounded Rectangle 9"/>
          <p:cNvSpPr/>
          <p:nvPr/>
        </p:nvSpPr>
        <p:spPr bwMode="auto">
          <a:xfrm>
            <a:off x="804672" y="1938528"/>
            <a:ext cx="3218688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6857742" name="Oval 10"/>
          <p:cNvSpPr/>
          <p:nvPr/>
        </p:nvSpPr>
        <p:spPr bwMode="auto">
          <a:xfrm>
            <a:off x="987552" y="2203704"/>
            <a:ext cx="502920" cy="502920"/>
          </a:xfrm>
          <a:prstGeom prst="ellipse">
            <a:avLst/>
          </a:prstGeom>
          <a:solidFill>
            <a:srgbClr val="19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2204047" name="TextBox 11"/>
          <p:cNvSpPr txBox="1"/>
          <p:nvPr/>
        </p:nvSpPr>
        <p:spPr bwMode="auto">
          <a:xfrm>
            <a:off x="987552" y="2212848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  <a:endParaRPr/>
          </a:p>
        </p:txBody>
      </p:sp>
      <p:sp>
        <p:nvSpPr>
          <p:cNvPr id="510036771" name="TextBox 12"/>
          <p:cNvSpPr txBox="1"/>
          <p:nvPr/>
        </p:nvSpPr>
        <p:spPr bwMode="auto">
          <a:xfrm>
            <a:off x="1627632" y="2157984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Schema validity</a:t>
            </a:r>
            <a:endParaRPr/>
          </a:p>
        </p:txBody>
      </p:sp>
      <p:sp>
        <p:nvSpPr>
          <p:cNvPr id="171929724" name="TextBox 13"/>
          <p:cNvSpPr txBox="1"/>
          <p:nvPr/>
        </p:nvSpPr>
        <p:spPr bwMode="auto">
          <a:xfrm>
            <a:off x="1627632" y="2459735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20 / 20 Automated Tests PASSED in 0.43s</a:t>
            </a:r>
            <a:endParaRPr/>
          </a:p>
        </p:txBody>
      </p:sp>
      <p:sp>
        <p:nvSpPr>
          <p:cNvPr id="1157880022" name="Rounded Rectangle 14"/>
          <p:cNvSpPr/>
          <p:nvPr/>
        </p:nvSpPr>
        <p:spPr bwMode="auto">
          <a:xfrm>
            <a:off x="4507992" y="1938528"/>
            <a:ext cx="3218688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0619840" name="Oval 15"/>
          <p:cNvSpPr/>
          <p:nvPr/>
        </p:nvSpPr>
        <p:spPr bwMode="auto">
          <a:xfrm>
            <a:off x="4690872" y="2203704"/>
            <a:ext cx="502920" cy="502920"/>
          </a:xfrm>
          <a:prstGeom prst="ellipse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6678922" name="TextBox 16"/>
          <p:cNvSpPr txBox="1"/>
          <p:nvPr/>
        </p:nvSpPr>
        <p:spPr bwMode="auto">
          <a:xfrm>
            <a:off x="4690872" y="2212848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  <a:endParaRPr/>
          </a:p>
        </p:txBody>
      </p:sp>
      <p:sp>
        <p:nvSpPr>
          <p:cNvPr id="1801344315" name="TextBox 17"/>
          <p:cNvSpPr txBox="1"/>
          <p:nvPr/>
        </p:nvSpPr>
        <p:spPr bwMode="auto">
          <a:xfrm>
            <a:off x="5330952" y="2157984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Data quality</a:t>
            </a:r>
            <a:endParaRPr/>
          </a:p>
        </p:txBody>
      </p:sp>
      <p:sp>
        <p:nvSpPr>
          <p:cNvPr id="1036479420" name="TextBox 18"/>
          <p:cNvSpPr txBox="1"/>
          <p:nvPr/>
        </p:nvSpPr>
        <p:spPr bwMode="auto">
          <a:xfrm>
            <a:off x="5330952" y="2459735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Zero data loss on Postgres hard crash drill</a:t>
            </a:r>
            <a:endParaRPr/>
          </a:p>
        </p:txBody>
      </p:sp>
      <p:sp>
        <p:nvSpPr>
          <p:cNvPr id="947564007" name="Rounded Rectangle 19"/>
          <p:cNvSpPr/>
          <p:nvPr/>
        </p:nvSpPr>
        <p:spPr bwMode="auto">
          <a:xfrm>
            <a:off x="8211312" y="1938528"/>
            <a:ext cx="3218688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5014443" name="Oval 20"/>
          <p:cNvSpPr/>
          <p:nvPr/>
        </p:nvSpPr>
        <p:spPr bwMode="auto">
          <a:xfrm>
            <a:off x="8394192" y="2203704"/>
            <a:ext cx="502920" cy="502920"/>
          </a:xfrm>
          <a:prstGeom prst="ellipse">
            <a:avLst/>
          </a:prstGeom>
          <a:solidFill>
            <a:srgbClr val="72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2010863" name="TextBox 21"/>
          <p:cNvSpPr txBox="1"/>
          <p:nvPr/>
        </p:nvSpPr>
        <p:spPr bwMode="auto">
          <a:xfrm>
            <a:off x="8394192" y="2212848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  <a:endParaRPr/>
          </a:p>
        </p:txBody>
      </p:sp>
      <p:sp>
        <p:nvSpPr>
          <p:cNvPr id="356569527" name="TextBox 22"/>
          <p:cNvSpPr txBox="1"/>
          <p:nvPr/>
        </p:nvSpPr>
        <p:spPr bwMode="auto">
          <a:xfrm>
            <a:off x="9034272" y="2157984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Transformations</a:t>
            </a:r>
            <a:endParaRPr/>
          </a:p>
        </p:txBody>
      </p:sp>
      <p:sp>
        <p:nvSpPr>
          <p:cNvPr id="1170694473" name="TextBox 23"/>
          <p:cNvSpPr txBox="1"/>
          <p:nvPr/>
        </p:nvSpPr>
        <p:spPr bwMode="auto">
          <a:xfrm>
            <a:off x="9034272" y="2459735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Airflow DAG: 6/6 tasks PASSED (state=success)</a:t>
            </a:r>
            <a:endParaRPr/>
          </a:p>
        </p:txBody>
      </p:sp>
      <p:sp>
        <p:nvSpPr>
          <p:cNvPr id="1029552837" name="Rounded Rectangle 24"/>
          <p:cNvSpPr/>
          <p:nvPr/>
        </p:nvSpPr>
        <p:spPr bwMode="auto">
          <a:xfrm>
            <a:off x="804672" y="3355848"/>
            <a:ext cx="3218688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2330600" name="Oval 25"/>
          <p:cNvSpPr/>
          <p:nvPr/>
        </p:nvSpPr>
        <p:spPr bwMode="auto">
          <a:xfrm>
            <a:off x="987552" y="3621024"/>
            <a:ext cx="502920" cy="502920"/>
          </a:xfrm>
          <a:prstGeom prst="ellipse">
            <a:avLst/>
          </a:prstGeom>
          <a:solidFill>
            <a:srgbClr val="EF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0697632" name="TextBox 26"/>
          <p:cNvSpPr txBox="1"/>
          <p:nvPr/>
        </p:nvSpPr>
        <p:spPr bwMode="auto">
          <a:xfrm>
            <a:off x="987552" y="3630168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  <a:endParaRPr/>
          </a:p>
        </p:txBody>
      </p:sp>
      <p:sp>
        <p:nvSpPr>
          <p:cNvPr id="896362454" name="TextBox 27"/>
          <p:cNvSpPr txBox="1"/>
          <p:nvPr/>
        </p:nvSpPr>
        <p:spPr bwMode="auto">
          <a:xfrm>
            <a:off x="1627632" y="3575303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Time semantics</a:t>
            </a:r>
            <a:endParaRPr/>
          </a:p>
        </p:txBody>
      </p:sp>
      <p:sp>
        <p:nvSpPr>
          <p:cNvPr id="1536567102" name="TextBox 28"/>
          <p:cNvSpPr txBox="1"/>
          <p:nvPr/>
        </p:nvSpPr>
        <p:spPr bwMode="auto">
          <a:xfrm>
            <a:off x="1627632" y="3877056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Deterministic replay without datetime.now()</a:t>
            </a:r>
            <a:endParaRPr/>
          </a:p>
        </p:txBody>
      </p:sp>
      <p:sp>
        <p:nvSpPr>
          <p:cNvPr id="1552971100" name="Rounded Rectangle 29"/>
          <p:cNvSpPr/>
          <p:nvPr/>
        </p:nvSpPr>
        <p:spPr bwMode="auto">
          <a:xfrm>
            <a:off x="4507992" y="3355848"/>
            <a:ext cx="3218688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4104819" name="Oval 30"/>
          <p:cNvSpPr/>
          <p:nvPr/>
        </p:nvSpPr>
        <p:spPr bwMode="auto">
          <a:xfrm>
            <a:off x="4690872" y="3621024"/>
            <a:ext cx="502920" cy="502920"/>
          </a:xfrm>
          <a:prstGeom prst="ellipse">
            <a:avLst/>
          </a:prstGeom>
          <a:solidFill>
            <a:srgbClr val="23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8791823" name="TextBox 31"/>
          <p:cNvSpPr txBox="1"/>
          <p:nvPr/>
        </p:nvSpPr>
        <p:spPr bwMode="auto">
          <a:xfrm>
            <a:off x="4690872" y="3630168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  <a:endParaRPr/>
          </a:p>
        </p:txBody>
      </p:sp>
      <p:sp>
        <p:nvSpPr>
          <p:cNvPr id="1296899424" name="TextBox 32"/>
          <p:cNvSpPr txBox="1"/>
          <p:nvPr/>
        </p:nvSpPr>
        <p:spPr bwMode="auto">
          <a:xfrm>
            <a:off x="5330952" y="3575303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Batch vs stream</a:t>
            </a:r>
            <a:endParaRPr/>
          </a:p>
        </p:txBody>
      </p:sp>
      <p:sp>
        <p:nvSpPr>
          <p:cNvPr id="932424824" name="TextBox 33"/>
          <p:cNvSpPr txBox="1"/>
          <p:nvPr/>
        </p:nvSpPr>
        <p:spPr bwMode="auto">
          <a:xfrm>
            <a:off x="5330952" y="3877056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Silver &amp; Gold lake layers fully consistent</a:t>
            </a:r>
            <a:endParaRPr/>
          </a:p>
        </p:txBody>
      </p:sp>
      <p:sp>
        <p:nvSpPr>
          <p:cNvPr id="834089584" name="Rounded Rectangle 34"/>
          <p:cNvSpPr/>
          <p:nvPr/>
        </p:nvSpPr>
        <p:spPr bwMode="auto">
          <a:xfrm>
            <a:off x="8211312" y="3355848"/>
            <a:ext cx="3218688" cy="105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9230822" name="Oval 35"/>
          <p:cNvSpPr/>
          <p:nvPr/>
        </p:nvSpPr>
        <p:spPr bwMode="auto">
          <a:xfrm>
            <a:off x="8394192" y="3621024"/>
            <a:ext cx="502920" cy="502920"/>
          </a:xfrm>
          <a:prstGeom prst="ellipse">
            <a:avLst/>
          </a:prstGeom>
          <a:solidFill>
            <a:srgbClr val="D35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870645" name="TextBox 36"/>
          <p:cNvSpPr txBox="1"/>
          <p:nvPr/>
        </p:nvSpPr>
        <p:spPr bwMode="auto">
          <a:xfrm>
            <a:off x="8394192" y="3630168"/>
            <a:ext cx="5029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  <a:endParaRPr/>
          </a:p>
        </p:txBody>
      </p:sp>
      <p:sp>
        <p:nvSpPr>
          <p:cNvPr id="1065287183" name="TextBox 37"/>
          <p:cNvSpPr txBox="1"/>
          <p:nvPr/>
        </p:nvSpPr>
        <p:spPr bwMode="auto">
          <a:xfrm>
            <a:off x="9034272" y="3575303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 i="0">
                <a:solidFill>
                  <a:srgbClr val="17273A"/>
                </a:solidFill>
                <a:latin typeface="Aptos"/>
              </a:rPr>
              <a:t>Failure recovery</a:t>
            </a:r>
            <a:endParaRPr/>
          </a:p>
        </p:txBody>
      </p:sp>
      <p:sp>
        <p:nvSpPr>
          <p:cNvPr id="929565514" name="TextBox 38"/>
          <p:cNvSpPr txBox="1"/>
          <p:nvPr/>
        </p:nvSpPr>
        <p:spPr bwMode="auto">
          <a:xfrm>
            <a:off x="9034272" y="3877056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100% Production Ready on single-machine Docker</a:t>
            </a:r>
            <a:endParaRPr/>
          </a:p>
        </p:txBody>
      </p:sp>
      <p:sp>
        <p:nvSpPr>
          <p:cNvPr id="977876184" name="Rounded Rectangle 39"/>
          <p:cNvSpPr/>
          <p:nvPr/>
        </p:nvSpPr>
        <p:spPr bwMode="auto">
          <a:xfrm>
            <a:off x="1920240" y="5074920"/>
            <a:ext cx="8321039" cy="758952"/>
          </a:xfrm>
          <a:prstGeom prst="roundRect">
            <a:avLst>
              <a:gd name="adj" fmla="val 16667"/>
            </a:avLst>
          </a:prstGeom>
          <a:solidFill>
            <a:srgbClr val="E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7631843" name="TextBox 40"/>
          <p:cNvSpPr txBox="1"/>
          <p:nvPr/>
        </p:nvSpPr>
        <p:spPr bwMode="auto">
          <a:xfrm>
            <a:off x="2194560" y="533095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0">
                <a:solidFill>
                  <a:srgbClr val="082448"/>
                </a:solidFill>
                <a:latin typeface="Aptos"/>
              </a:rPr>
              <a:t>A pipeline is trustworthy when it produces correct data and behaves predictably when something fails.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8244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266739" name="Rectangle 1"/>
          <p:cNvSpPr/>
          <p:nvPr/>
        </p:nvSpPr>
        <p:spPr bwMode="auto">
          <a:xfrm>
            <a:off x="0" y="6382512"/>
            <a:ext cx="12191695" cy="475488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501561" name="Rectangle 2"/>
          <p:cNvSpPr/>
          <p:nvPr/>
        </p:nvSpPr>
        <p:spPr bwMode="auto">
          <a:xfrm>
            <a:off x="0" y="0"/>
            <a:ext cx="201168" cy="6858000"/>
          </a:xfrm>
          <a:prstGeom prst="rect">
            <a:avLst/>
          </a:prstGeom>
          <a:solidFill>
            <a:srgbClr val="0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7948956" name="TextBox 3"/>
          <p:cNvSpPr txBox="1"/>
          <p:nvPr/>
        </p:nvSpPr>
        <p:spPr bwMode="auto">
          <a:xfrm>
            <a:off x="3424636" y="786204"/>
            <a:ext cx="4575960" cy="805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4800" b="1" i="0">
                <a:solidFill>
                  <a:srgbClr val="00AEBE"/>
                </a:solidFill>
                <a:latin typeface="Aptos"/>
              </a:rPr>
              <a:t>THANK YOU</a:t>
            </a:r>
            <a:endParaRPr/>
          </a:p>
        </p:txBody>
      </p:sp>
      <p:sp>
        <p:nvSpPr>
          <p:cNvPr id="2035660559" name="TextBox 4"/>
          <p:cNvSpPr txBox="1"/>
          <p:nvPr/>
        </p:nvSpPr>
        <p:spPr bwMode="auto">
          <a:xfrm>
            <a:off x="731520" y="1783080"/>
            <a:ext cx="713232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2000"/>
              </a:lnSpc>
              <a:defRPr/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From historical records</a:t>
            </a:r>
            <a:br>
              <a:rPr sz="3100" b="1" i="0">
                <a:solidFill>
                  <a:srgbClr val="FFFFFF"/>
                </a:solidFill>
                <a:latin typeface="Aptos Display"/>
              </a:rPr>
            </a:br>
            <a:r>
              <a:rPr sz="3100" b="1" i="0">
                <a:solidFill>
                  <a:srgbClr val="FFFFFF"/>
                </a:solidFill>
                <a:latin typeface="Aptos Display"/>
              </a:rPr>
              <a:t>to trusted insight.</a:t>
            </a:r>
            <a:endParaRPr/>
          </a:p>
        </p:txBody>
      </p:sp>
      <p:sp>
        <p:nvSpPr>
          <p:cNvPr id="1514924745" name="TextBox 5"/>
          <p:cNvSpPr txBox="1"/>
          <p:nvPr/>
        </p:nvSpPr>
        <p:spPr bwMode="auto">
          <a:xfrm>
            <a:off x="758952" y="333756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t>GitHub: https://github.com/M12hindawy/sp500-big-data-pipeline</a:t>
            </a:r>
            <a:endParaRPr/>
          </a:p>
        </p:txBody>
      </p:sp>
      <p:sp>
        <p:nvSpPr>
          <p:cNvPr id="1847918516" name="TextBox 6"/>
          <p:cNvSpPr txBox="1"/>
          <p:nvPr/>
        </p:nvSpPr>
        <p:spPr bwMode="auto">
          <a:xfrm>
            <a:off x="758952" y="3822191"/>
            <a:ext cx="6766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 i="0">
                <a:solidFill>
                  <a:srgbClr val="9CB7CE"/>
                </a:solidFill>
                <a:latin typeface="Aptos"/>
              </a:rPr>
              <a:t>MinIO  •  Kafka  •  Spark  •  Airflow  •  PostgreSQL  •  Power BI</a:t>
            </a:r>
            <a:endParaRPr/>
          </a:p>
        </p:txBody>
      </p:sp>
      <p:sp>
        <p:nvSpPr>
          <p:cNvPr id="1352384691" name="Rounded Rectangle 7"/>
          <p:cNvSpPr/>
          <p:nvPr/>
        </p:nvSpPr>
        <p:spPr bwMode="auto">
          <a:xfrm flipH="0" flipV="0">
            <a:off x="8366759" y="1367466"/>
            <a:ext cx="2555705" cy="96425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72408128" name="Picture 8" descr="nti_logo_cropp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664503" y="1375122"/>
            <a:ext cx="1960218" cy="1139476"/>
          </a:xfrm>
          <a:prstGeom prst="rect">
            <a:avLst/>
          </a:prstGeom>
        </p:spPr>
      </p:pic>
      <p:sp>
        <p:nvSpPr>
          <p:cNvPr id="358409639" name="TextBox 9"/>
          <p:cNvSpPr txBox="1"/>
          <p:nvPr/>
        </p:nvSpPr>
        <p:spPr bwMode="auto">
          <a:xfrm>
            <a:off x="8394192" y="2514600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FFFFFF"/>
                </a:solidFill>
                <a:latin typeface="Aptos"/>
              </a:rPr>
              <a:t>National Telecommunication Institute</a:t>
            </a:r>
            <a:endParaRPr/>
          </a:p>
        </p:txBody>
      </p:sp>
      <p:sp>
        <p:nvSpPr>
          <p:cNvPr id="418982474" name="TextBox 10"/>
          <p:cNvSpPr txBox="1"/>
          <p:nvPr/>
        </p:nvSpPr>
        <p:spPr bwMode="auto">
          <a:xfrm>
            <a:off x="749808" y="5650992"/>
            <a:ext cx="10744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900" b="0" i="0">
                <a:solidFill>
                  <a:srgbClr val="D9E6F0"/>
                </a:solidFill>
                <a:latin typeface="Aptos"/>
              </a:rPr>
              <a:t>Abdelrahman Mandor  •  Hania Mohamed  •  Asmaa Adel  •  Catherine Yousry  •  Mohamed Ashraf</a:t>
            </a:r>
            <a:endParaRPr/>
          </a:p>
        </p:txBody>
      </p:sp>
      <p:sp>
        <p:nvSpPr>
          <p:cNvPr id="77896798" name="TextBox 11"/>
          <p:cNvSpPr txBox="1"/>
          <p:nvPr/>
        </p:nvSpPr>
        <p:spPr bwMode="auto">
          <a:xfrm>
            <a:off x="749808" y="5952744"/>
            <a:ext cx="10744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050" b="1" i="0">
                <a:solidFill>
                  <a:srgbClr val="FFFFFF"/>
                </a:solidFill>
                <a:latin typeface="Aptos"/>
              </a:rPr>
              <a:t>Supervised by Eng. Ahmed Hassan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S&amp;P 500 Stock Data Pipeline Proposal</dc:title>
  <dc:subject>Big Data architecture for batch, streaming, and analytics</dc:subject>
  <dc:creator>Project Team</dc:creator>
  <cp:keywords>S&amp;P 500, Big Data, MinIO, Kafka, Spark, Airflow, PostgreSQL</cp:keywords>
  <dc:description>generated using python-pptx</dc:description>
  <cp:lastModifiedBy/>
  <cp:revision>2</cp:revision>
  <dcterms:created xsi:type="dcterms:W3CDTF">2013-01-27T09:14:16Z</dcterms:created>
  <dcterms:modified xsi:type="dcterms:W3CDTF">2026-09-17T01:36:57Z</dcterms:modified>
  <cp:category/>
</cp:coreProperties>
</file>